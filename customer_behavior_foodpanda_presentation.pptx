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29LT Bukra Semi Wide" panose="020B0604020202020204" charset="-78"/>
      <p:regular r:id="rId14"/>
    </p:embeddedFont>
    <p:embeddedFont>
      <p:font typeface="29LT Bukra Semi Wide Bold" panose="020B0604020202020204" charset="-78"/>
      <p:regular r:id="rId15"/>
    </p:embeddedFont>
    <p:embeddedFont>
      <p:font typeface="Fahkwang" panose="00000500000000000000" pitchFamily="2" charset="-34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svg"/><Relationship Id="rId9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.svg"/><Relationship Id="rId7" Type="http://schemas.openxmlformats.org/officeDocument/2006/relationships/image" Target="../media/image3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2.svg"/><Relationship Id="rId9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svg"/><Relationship Id="rId7" Type="http://schemas.openxmlformats.org/officeDocument/2006/relationships/image" Target="../media/image44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10.sv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77414" y="7657305"/>
            <a:ext cx="5441687" cy="1074733"/>
          </a:xfrm>
          <a:custGeom>
            <a:avLst/>
            <a:gdLst/>
            <a:ahLst/>
            <a:cxnLst/>
            <a:rect l="l" t="t" r="r" b="b"/>
            <a:pathLst>
              <a:path w="5441687" h="1074733">
                <a:moveTo>
                  <a:pt x="0" y="0"/>
                </a:moveTo>
                <a:lnTo>
                  <a:pt x="5441687" y="0"/>
                </a:lnTo>
                <a:lnTo>
                  <a:pt x="5441687" y="1074733"/>
                </a:lnTo>
                <a:lnTo>
                  <a:pt x="0" y="1074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078692" y="7343771"/>
            <a:ext cx="4368996" cy="4114800"/>
          </a:xfrm>
          <a:custGeom>
            <a:avLst/>
            <a:gdLst/>
            <a:ahLst/>
            <a:cxnLst/>
            <a:rect l="l" t="t" r="r" b="b"/>
            <a:pathLst>
              <a:path w="4368996" h="4114800">
                <a:moveTo>
                  <a:pt x="0" y="0"/>
                </a:moveTo>
                <a:lnTo>
                  <a:pt x="4368996" y="0"/>
                </a:lnTo>
                <a:lnTo>
                  <a:pt x="4368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4076562" y="5622396"/>
            <a:ext cx="588042" cy="8741167"/>
          </a:xfrm>
          <a:custGeom>
            <a:avLst/>
            <a:gdLst/>
            <a:ahLst/>
            <a:cxnLst/>
            <a:rect l="l" t="t" r="r" b="b"/>
            <a:pathLst>
              <a:path w="588042" h="8741167">
                <a:moveTo>
                  <a:pt x="0" y="0"/>
                </a:moveTo>
                <a:lnTo>
                  <a:pt x="588042" y="0"/>
                </a:lnTo>
                <a:lnTo>
                  <a:pt x="588042" y="8741166"/>
                </a:lnTo>
                <a:lnTo>
                  <a:pt x="0" y="8741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3623396" y="-4076562"/>
            <a:ext cx="588042" cy="8741167"/>
          </a:xfrm>
          <a:custGeom>
            <a:avLst/>
            <a:gdLst/>
            <a:ahLst/>
            <a:cxnLst/>
            <a:rect l="l" t="t" r="r" b="b"/>
            <a:pathLst>
              <a:path w="588042" h="8741167">
                <a:moveTo>
                  <a:pt x="0" y="0"/>
                </a:moveTo>
                <a:lnTo>
                  <a:pt x="588042" y="0"/>
                </a:lnTo>
                <a:lnTo>
                  <a:pt x="588042" y="8741166"/>
                </a:lnTo>
                <a:lnTo>
                  <a:pt x="0" y="8741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28824" y="2195688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2"/>
                </a:lnTo>
                <a:lnTo>
                  <a:pt x="0" y="593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28824" y="1028700"/>
            <a:ext cx="792283" cy="727460"/>
          </a:xfrm>
          <a:custGeom>
            <a:avLst/>
            <a:gdLst/>
            <a:ahLst/>
            <a:cxnLst/>
            <a:rect l="l" t="t" r="r" b="b"/>
            <a:pathLst>
              <a:path w="792283" h="727460">
                <a:moveTo>
                  <a:pt x="0" y="0"/>
                </a:moveTo>
                <a:lnTo>
                  <a:pt x="792283" y="0"/>
                </a:lnTo>
                <a:lnTo>
                  <a:pt x="792283" y="727460"/>
                </a:lnTo>
                <a:lnTo>
                  <a:pt x="0" y="727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49600">
            <a:off x="16043391" y="1336298"/>
            <a:ext cx="1970701" cy="1823794"/>
          </a:xfrm>
          <a:custGeom>
            <a:avLst/>
            <a:gdLst/>
            <a:ahLst/>
            <a:cxnLst/>
            <a:rect l="l" t="t" r="r" b="b"/>
            <a:pathLst>
              <a:path w="1970701" h="1823794">
                <a:moveTo>
                  <a:pt x="0" y="0"/>
                </a:moveTo>
                <a:lnTo>
                  <a:pt x="1970701" y="0"/>
                </a:lnTo>
                <a:lnTo>
                  <a:pt x="1970701" y="1823794"/>
                </a:lnTo>
                <a:lnTo>
                  <a:pt x="0" y="1823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070098" y="2957920"/>
            <a:ext cx="4699385" cy="4699385"/>
          </a:xfrm>
          <a:custGeom>
            <a:avLst/>
            <a:gdLst/>
            <a:ahLst/>
            <a:cxnLst/>
            <a:rect l="l" t="t" r="r" b="b"/>
            <a:pathLst>
              <a:path w="4699385" h="4699385">
                <a:moveTo>
                  <a:pt x="0" y="0"/>
                </a:moveTo>
                <a:lnTo>
                  <a:pt x="4699385" y="0"/>
                </a:lnTo>
                <a:lnTo>
                  <a:pt x="4699385" y="4699385"/>
                </a:lnTo>
                <a:lnTo>
                  <a:pt x="0" y="46993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24965" y="3466224"/>
            <a:ext cx="8700049" cy="387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1"/>
              </a:lnSpc>
            </a:pPr>
            <a:r>
              <a:rPr lang="en-US" sz="9486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Customer Behavior </a:t>
            </a:r>
            <a:r>
              <a:rPr lang="en-US" sz="9486" b="1">
                <a:solidFill>
                  <a:srgbClr val="F20A73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foodpanda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24965" y="7381871"/>
            <a:ext cx="8700049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Prepared by Ester Siahaan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46518" y="3812416"/>
            <a:ext cx="8493744" cy="6295988"/>
          </a:xfrm>
          <a:custGeom>
            <a:avLst/>
            <a:gdLst/>
            <a:ahLst/>
            <a:cxnLst/>
            <a:rect l="l" t="t" r="r" b="b"/>
            <a:pathLst>
              <a:path w="8493744" h="6295988">
                <a:moveTo>
                  <a:pt x="0" y="0"/>
                </a:moveTo>
                <a:lnTo>
                  <a:pt x="8493744" y="0"/>
                </a:lnTo>
                <a:lnTo>
                  <a:pt x="8493744" y="6295987"/>
                </a:lnTo>
                <a:lnTo>
                  <a:pt x="0" y="6295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8" name="Freeform 8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042409" y="3222811"/>
            <a:ext cx="4231590" cy="4544117"/>
            <a:chOff x="0" y="0"/>
            <a:chExt cx="1114493" cy="11968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4493" cy="1196804"/>
            </a:xfrm>
            <a:custGeom>
              <a:avLst/>
              <a:gdLst/>
              <a:ahLst/>
              <a:cxnLst/>
              <a:rect l="l" t="t" r="r" b="b"/>
              <a:pathLst>
                <a:path w="1114493" h="1196804">
                  <a:moveTo>
                    <a:pt x="93307" y="0"/>
                  </a:moveTo>
                  <a:lnTo>
                    <a:pt x="1021186" y="0"/>
                  </a:lnTo>
                  <a:cubicBezTo>
                    <a:pt x="1045932" y="0"/>
                    <a:pt x="1069665" y="9831"/>
                    <a:pt x="1087164" y="27329"/>
                  </a:cubicBezTo>
                  <a:cubicBezTo>
                    <a:pt x="1104662" y="44828"/>
                    <a:pt x="1114493" y="68561"/>
                    <a:pt x="1114493" y="93307"/>
                  </a:cubicBezTo>
                  <a:lnTo>
                    <a:pt x="1114493" y="1103497"/>
                  </a:lnTo>
                  <a:cubicBezTo>
                    <a:pt x="1114493" y="1128244"/>
                    <a:pt x="1104662" y="1151977"/>
                    <a:pt x="1087164" y="1169475"/>
                  </a:cubicBezTo>
                  <a:cubicBezTo>
                    <a:pt x="1069665" y="1186974"/>
                    <a:pt x="1045932" y="1196804"/>
                    <a:pt x="1021186" y="1196804"/>
                  </a:cubicBezTo>
                  <a:lnTo>
                    <a:pt x="93307" y="1196804"/>
                  </a:lnTo>
                  <a:cubicBezTo>
                    <a:pt x="68561" y="1196804"/>
                    <a:pt x="44828" y="1186974"/>
                    <a:pt x="27329" y="1169475"/>
                  </a:cubicBezTo>
                  <a:cubicBezTo>
                    <a:pt x="9831" y="1151977"/>
                    <a:pt x="0" y="1128244"/>
                    <a:pt x="0" y="1103497"/>
                  </a:cubicBezTo>
                  <a:lnTo>
                    <a:pt x="0" y="93307"/>
                  </a:lnTo>
                  <a:cubicBezTo>
                    <a:pt x="0" y="68561"/>
                    <a:pt x="9831" y="44828"/>
                    <a:pt x="27329" y="27329"/>
                  </a:cubicBezTo>
                  <a:cubicBezTo>
                    <a:pt x="44828" y="9831"/>
                    <a:pt x="68561" y="0"/>
                    <a:pt x="93307" y="0"/>
                  </a:cubicBezTo>
                  <a:close/>
                </a:path>
              </a:pathLst>
            </a:custGeom>
            <a:solidFill>
              <a:srgbClr val="F20A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14493" cy="12349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85585" y="3217969"/>
            <a:ext cx="4231590" cy="4688778"/>
            <a:chOff x="0" y="-38100"/>
            <a:chExt cx="1114493" cy="12349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4493" cy="1196804"/>
            </a:xfrm>
            <a:custGeom>
              <a:avLst/>
              <a:gdLst/>
              <a:ahLst/>
              <a:cxnLst/>
              <a:rect l="l" t="t" r="r" b="b"/>
              <a:pathLst>
                <a:path w="1114493" h="1196804">
                  <a:moveTo>
                    <a:pt x="93307" y="0"/>
                  </a:moveTo>
                  <a:lnTo>
                    <a:pt x="1021186" y="0"/>
                  </a:lnTo>
                  <a:cubicBezTo>
                    <a:pt x="1045932" y="0"/>
                    <a:pt x="1069665" y="9831"/>
                    <a:pt x="1087164" y="27329"/>
                  </a:cubicBezTo>
                  <a:cubicBezTo>
                    <a:pt x="1104662" y="44828"/>
                    <a:pt x="1114493" y="68561"/>
                    <a:pt x="1114493" y="93307"/>
                  </a:cubicBezTo>
                  <a:lnTo>
                    <a:pt x="1114493" y="1103497"/>
                  </a:lnTo>
                  <a:cubicBezTo>
                    <a:pt x="1114493" y="1128244"/>
                    <a:pt x="1104662" y="1151977"/>
                    <a:pt x="1087164" y="1169475"/>
                  </a:cubicBezTo>
                  <a:cubicBezTo>
                    <a:pt x="1069665" y="1186974"/>
                    <a:pt x="1045932" y="1196804"/>
                    <a:pt x="1021186" y="1196804"/>
                  </a:cubicBezTo>
                  <a:lnTo>
                    <a:pt x="93307" y="1196804"/>
                  </a:lnTo>
                  <a:cubicBezTo>
                    <a:pt x="68561" y="1196804"/>
                    <a:pt x="44828" y="1186974"/>
                    <a:pt x="27329" y="1169475"/>
                  </a:cubicBezTo>
                  <a:cubicBezTo>
                    <a:pt x="9831" y="1151977"/>
                    <a:pt x="0" y="1128244"/>
                    <a:pt x="0" y="1103497"/>
                  </a:cubicBezTo>
                  <a:lnTo>
                    <a:pt x="0" y="93307"/>
                  </a:lnTo>
                  <a:cubicBezTo>
                    <a:pt x="0" y="68561"/>
                    <a:pt x="9831" y="44828"/>
                    <a:pt x="27329" y="27329"/>
                  </a:cubicBezTo>
                  <a:cubicBezTo>
                    <a:pt x="44828" y="9831"/>
                    <a:pt x="68561" y="0"/>
                    <a:pt x="933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20A73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14493" cy="12349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473960" y="5947997"/>
            <a:ext cx="3654839" cy="1556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21">
                <a:solidFill>
                  <a:srgbClr val="000000"/>
                </a:solidFill>
                <a:latin typeface="Fahkwang"/>
                <a:ea typeface="Fahkwang"/>
                <a:cs typeface="Fahkwang"/>
                <a:sym typeface="Fahkwang"/>
              </a:rPr>
              <a:t>The total amount of money received from customer transactions (Gross Revenue).</a:t>
            </a:r>
          </a:p>
        </p:txBody>
      </p:sp>
      <p:sp>
        <p:nvSpPr>
          <p:cNvPr id="17" name="Freeform 17"/>
          <p:cNvSpPr/>
          <p:nvPr/>
        </p:nvSpPr>
        <p:spPr>
          <a:xfrm rot="-4297609" flipH="1">
            <a:off x="7683979" y="2101226"/>
            <a:ext cx="1054796" cy="1880888"/>
          </a:xfrm>
          <a:custGeom>
            <a:avLst/>
            <a:gdLst/>
            <a:ahLst/>
            <a:cxnLst/>
            <a:rect l="l" t="t" r="r" b="b"/>
            <a:pathLst>
              <a:path w="1054796" h="1880888">
                <a:moveTo>
                  <a:pt x="1054795" y="0"/>
                </a:moveTo>
                <a:lnTo>
                  <a:pt x="0" y="0"/>
                </a:lnTo>
                <a:lnTo>
                  <a:pt x="0" y="1880888"/>
                </a:lnTo>
                <a:lnTo>
                  <a:pt x="1054795" y="1880888"/>
                </a:lnTo>
                <a:lnTo>
                  <a:pt x="10547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0168842" y="3177104"/>
            <a:ext cx="3956355" cy="4596141"/>
            <a:chOff x="0" y="0"/>
            <a:chExt cx="1046551" cy="12157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6551" cy="1215789"/>
            </a:xfrm>
            <a:custGeom>
              <a:avLst/>
              <a:gdLst/>
              <a:ahLst/>
              <a:cxnLst/>
              <a:rect l="l" t="t" r="r" b="b"/>
              <a:pathLst>
                <a:path w="1046551" h="1215789">
                  <a:moveTo>
                    <a:pt x="99798" y="0"/>
                  </a:moveTo>
                  <a:lnTo>
                    <a:pt x="946752" y="0"/>
                  </a:lnTo>
                  <a:cubicBezTo>
                    <a:pt x="1001869" y="0"/>
                    <a:pt x="1046551" y="44681"/>
                    <a:pt x="1046551" y="99798"/>
                  </a:cubicBezTo>
                  <a:lnTo>
                    <a:pt x="1046551" y="1115991"/>
                  </a:lnTo>
                  <a:cubicBezTo>
                    <a:pt x="1046551" y="1142459"/>
                    <a:pt x="1036036" y="1167843"/>
                    <a:pt x="1017320" y="1186559"/>
                  </a:cubicBezTo>
                  <a:cubicBezTo>
                    <a:pt x="998605" y="1205275"/>
                    <a:pt x="973221" y="1215789"/>
                    <a:pt x="946752" y="1215789"/>
                  </a:cubicBezTo>
                  <a:lnTo>
                    <a:pt x="99798" y="1215789"/>
                  </a:lnTo>
                  <a:cubicBezTo>
                    <a:pt x="73330" y="1215789"/>
                    <a:pt x="47946" y="1205275"/>
                    <a:pt x="29230" y="1186559"/>
                  </a:cubicBezTo>
                  <a:cubicBezTo>
                    <a:pt x="10514" y="1167843"/>
                    <a:pt x="0" y="1142459"/>
                    <a:pt x="0" y="1115991"/>
                  </a:cubicBezTo>
                  <a:lnTo>
                    <a:pt x="0" y="99798"/>
                  </a:lnTo>
                  <a:cubicBezTo>
                    <a:pt x="0" y="44681"/>
                    <a:pt x="44681" y="0"/>
                    <a:pt x="99798" y="0"/>
                  </a:cubicBezTo>
                  <a:close/>
                </a:path>
              </a:pathLst>
            </a:custGeom>
            <a:solidFill>
              <a:srgbClr val="F20A7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46551" cy="1253889"/>
            </a:xfrm>
            <a:prstGeom prst="rect">
              <a:avLst/>
            </a:prstGeom>
          </p:spPr>
          <p:txBody>
            <a:bodyPr lIns="50579" tIns="50579" rIns="50579" bIns="50579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11100" y="3362630"/>
            <a:ext cx="3956355" cy="4544117"/>
            <a:chOff x="0" y="0"/>
            <a:chExt cx="1046551" cy="12020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6551" cy="1202028"/>
            </a:xfrm>
            <a:custGeom>
              <a:avLst/>
              <a:gdLst/>
              <a:ahLst/>
              <a:cxnLst/>
              <a:rect l="l" t="t" r="r" b="b"/>
              <a:pathLst>
                <a:path w="1046551" h="1202028">
                  <a:moveTo>
                    <a:pt x="99798" y="0"/>
                  </a:moveTo>
                  <a:lnTo>
                    <a:pt x="946752" y="0"/>
                  </a:lnTo>
                  <a:cubicBezTo>
                    <a:pt x="1001869" y="0"/>
                    <a:pt x="1046551" y="44681"/>
                    <a:pt x="1046551" y="99798"/>
                  </a:cubicBezTo>
                  <a:lnTo>
                    <a:pt x="1046551" y="1102229"/>
                  </a:lnTo>
                  <a:cubicBezTo>
                    <a:pt x="1046551" y="1128698"/>
                    <a:pt x="1036036" y="1154082"/>
                    <a:pt x="1017320" y="1172798"/>
                  </a:cubicBezTo>
                  <a:cubicBezTo>
                    <a:pt x="998605" y="1191513"/>
                    <a:pt x="973221" y="1202028"/>
                    <a:pt x="946752" y="1202028"/>
                  </a:cubicBezTo>
                  <a:lnTo>
                    <a:pt x="99798" y="1202028"/>
                  </a:lnTo>
                  <a:cubicBezTo>
                    <a:pt x="44681" y="1202028"/>
                    <a:pt x="0" y="1157347"/>
                    <a:pt x="0" y="1102229"/>
                  </a:cubicBezTo>
                  <a:lnTo>
                    <a:pt x="0" y="99798"/>
                  </a:lnTo>
                  <a:cubicBezTo>
                    <a:pt x="0" y="44681"/>
                    <a:pt x="44681" y="0"/>
                    <a:pt x="997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20A73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46551" cy="1240128"/>
            </a:xfrm>
            <a:prstGeom prst="rect">
              <a:avLst/>
            </a:prstGeom>
          </p:spPr>
          <p:txBody>
            <a:bodyPr lIns="50579" tIns="50579" rIns="50579" bIns="50579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3655154" y="3557222"/>
            <a:ext cx="1015298" cy="974686"/>
          </a:xfrm>
          <a:custGeom>
            <a:avLst/>
            <a:gdLst/>
            <a:ahLst/>
            <a:cxnLst/>
            <a:rect l="l" t="t" r="r" b="b"/>
            <a:pathLst>
              <a:path w="1015298" h="974686">
                <a:moveTo>
                  <a:pt x="0" y="0"/>
                </a:moveTo>
                <a:lnTo>
                  <a:pt x="1015298" y="0"/>
                </a:lnTo>
                <a:lnTo>
                  <a:pt x="1015298" y="974686"/>
                </a:lnTo>
                <a:lnTo>
                  <a:pt x="0" y="974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301509" y="4415297"/>
            <a:ext cx="4037860" cy="70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8"/>
              </a:lnSpc>
            </a:pPr>
            <a:r>
              <a:rPr lang="en-US" sz="3484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Income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65439" y="5957718"/>
            <a:ext cx="3600016" cy="116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220">
                <a:solidFill>
                  <a:srgbClr val="000000"/>
                </a:solidFill>
                <a:latin typeface="Fahkwang"/>
                <a:ea typeface="Fahkwang"/>
                <a:cs typeface="Fahkwang"/>
                <a:sym typeface="Fahkwang"/>
              </a:rPr>
              <a:t>The total number of customer orders within a specific period of time.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934436" y="3521433"/>
            <a:ext cx="952829" cy="994905"/>
          </a:xfrm>
          <a:custGeom>
            <a:avLst/>
            <a:gdLst/>
            <a:ahLst/>
            <a:cxnLst/>
            <a:rect l="l" t="t" r="r" b="b"/>
            <a:pathLst>
              <a:path w="985753" h="1058264">
                <a:moveTo>
                  <a:pt x="0" y="0"/>
                </a:moveTo>
                <a:lnTo>
                  <a:pt x="985753" y="0"/>
                </a:lnTo>
                <a:lnTo>
                  <a:pt x="985753" y="1058264"/>
                </a:lnTo>
                <a:lnTo>
                  <a:pt x="0" y="1058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4162803" y="822325"/>
            <a:ext cx="9962394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Dataset Overview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18762" y="5094459"/>
            <a:ext cx="3736855" cy="694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4"/>
              </a:lnSpc>
            </a:pPr>
            <a:r>
              <a:rPr lang="en-US" sz="412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14.343.912.079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46518" y="4378959"/>
            <a:ext cx="4037860" cy="70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8"/>
              </a:lnSpc>
            </a:pPr>
            <a:r>
              <a:rPr lang="en-US" sz="3484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Total Order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91290" y="5045474"/>
            <a:ext cx="1195975" cy="694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4"/>
              </a:lnSpc>
            </a:pPr>
            <a:r>
              <a:rPr lang="en-US" sz="412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6000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46518" y="3812416"/>
            <a:ext cx="8493744" cy="6295988"/>
          </a:xfrm>
          <a:custGeom>
            <a:avLst/>
            <a:gdLst/>
            <a:ahLst/>
            <a:cxnLst/>
            <a:rect l="l" t="t" r="r" b="b"/>
            <a:pathLst>
              <a:path w="8493744" h="6295988">
                <a:moveTo>
                  <a:pt x="0" y="0"/>
                </a:moveTo>
                <a:lnTo>
                  <a:pt x="8493744" y="0"/>
                </a:lnTo>
                <a:lnTo>
                  <a:pt x="8493744" y="6295987"/>
                </a:lnTo>
                <a:lnTo>
                  <a:pt x="0" y="6295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8" name="Freeform 8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042409" y="3222811"/>
            <a:ext cx="4231590" cy="4544117"/>
            <a:chOff x="0" y="0"/>
            <a:chExt cx="1114493" cy="11968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4493" cy="1196804"/>
            </a:xfrm>
            <a:custGeom>
              <a:avLst/>
              <a:gdLst/>
              <a:ahLst/>
              <a:cxnLst/>
              <a:rect l="l" t="t" r="r" b="b"/>
              <a:pathLst>
                <a:path w="1114493" h="1196804">
                  <a:moveTo>
                    <a:pt x="93307" y="0"/>
                  </a:moveTo>
                  <a:lnTo>
                    <a:pt x="1021186" y="0"/>
                  </a:lnTo>
                  <a:cubicBezTo>
                    <a:pt x="1045932" y="0"/>
                    <a:pt x="1069665" y="9831"/>
                    <a:pt x="1087164" y="27329"/>
                  </a:cubicBezTo>
                  <a:cubicBezTo>
                    <a:pt x="1104662" y="44828"/>
                    <a:pt x="1114493" y="68561"/>
                    <a:pt x="1114493" y="93307"/>
                  </a:cubicBezTo>
                  <a:lnTo>
                    <a:pt x="1114493" y="1103497"/>
                  </a:lnTo>
                  <a:cubicBezTo>
                    <a:pt x="1114493" y="1128244"/>
                    <a:pt x="1104662" y="1151977"/>
                    <a:pt x="1087164" y="1169475"/>
                  </a:cubicBezTo>
                  <a:cubicBezTo>
                    <a:pt x="1069665" y="1186974"/>
                    <a:pt x="1045932" y="1196804"/>
                    <a:pt x="1021186" y="1196804"/>
                  </a:cubicBezTo>
                  <a:lnTo>
                    <a:pt x="93307" y="1196804"/>
                  </a:lnTo>
                  <a:cubicBezTo>
                    <a:pt x="68561" y="1196804"/>
                    <a:pt x="44828" y="1186974"/>
                    <a:pt x="27329" y="1169475"/>
                  </a:cubicBezTo>
                  <a:cubicBezTo>
                    <a:pt x="9831" y="1151977"/>
                    <a:pt x="0" y="1128244"/>
                    <a:pt x="0" y="1103497"/>
                  </a:cubicBezTo>
                  <a:lnTo>
                    <a:pt x="0" y="93307"/>
                  </a:lnTo>
                  <a:cubicBezTo>
                    <a:pt x="0" y="68561"/>
                    <a:pt x="9831" y="44828"/>
                    <a:pt x="27329" y="27329"/>
                  </a:cubicBezTo>
                  <a:cubicBezTo>
                    <a:pt x="44828" y="9831"/>
                    <a:pt x="68561" y="0"/>
                    <a:pt x="93307" y="0"/>
                  </a:cubicBezTo>
                  <a:close/>
                </a:path>
              </a:pathLst>
            </a:custGeom>
            <a:solidFill>
              <a:srgbClr val="F20A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14493" cy="12349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85585" y="3362630"/>
            <a:ext cx="4231590" cy="4544117"/>
            <a:chOff x="0" y="0"/>
            <a:chExt cx="1114493" cy="11968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4493" cy="1196804"/>
            </a:xfrm>
            <a:custGeom>
              <a:avLst/>
              <a:gdLst/>
              <a:ahLst/>
              <a:cxnLst/>
              <a:rect l="l" t="t" r="r" b="b"/>
              <a:pathLst>
                <a:path w="1114493" h="1196804">
                  <a:moveTo>
                    <a:pt x="93307" y="0"/>
                  </a:moveTo>
                  <a:lnTo>
                    <a:pt x="1021186" y="0"/>
                  </a:lnTo>
                  <a:cubicBezTo>
                    <a:pt x="1045932" y="0"/>
                    <a:pt x="1069665" y="9831"/>
                    <a:pt x="1087164" y="27329"/>
                  </a:cubicBezTo>
                  <a:cubicBezTo>
                    <a:pt x="1104662" y="44828"/>
                    <a:pt x="1114493" y="68561"/>
                    <a:pt x="1114493" y="93307"/>
                  </a:cubicBezTo>
                  <a:lnTo>
                    <a:pt x="1114493" y="1103497"/>
                  </a:lnTo>
                  <a:cubicBezTo>
                    <a:pt x="1114493" y="1128244"/>
                    <a:pt x="1104662" y="1151977"/>
                    <a:pt x="1087164" y="1169475"/>
                  </a:cubicBezTo>
                  <a:cubicBezTo>
                    <a:pt x="1069665" y="1186974"/>
                    <a:pt x="1045932" y="1196804"/>
                    <a:pt x="1021186" y="1196804"/>
                  </a:cubicBezTo>
                  <a:lnTo>
                    <a:pt x="93307" y="1196804"/>
                  </a:lnTo>
                  <a:cubicBezTo>
                    <a:pt x="68561" y="1196804"/>
                    <a:pt x="44828" y="1186974"/>
                    <a:pt x="27329" y="1169475"/>
                  </a:cubicBezTo>
                  <a:cubicBezTo>
                    <a:pt x="9831" y="1151977"/>
                    <a:pt x="0" y="1128244"/>
                    <a:pt x="0" y="1103497"/>
                  </a:cubicBezTo>
                  <a:lnTo>
                    <a:pt x="0" y="93307"/>
                  </a:lnTo>
                  <a:cubicBezTo>
                    <a:pt x="0" y="68561"/>
                    <a:pt x="9831" y="44828"/>
                    <a:pt x="27329" y="27329"/>
                  </a:cubicBezTo>
                  <a:cubicBezTo>
                    <a:pt x="44828" y="9831"/>
                    <a:pt x="68561" y="0"/>
                    <a:pt x="933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20A7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14493" cy="12349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70118" y="3177104"/>
            <a:ext cx="5223271" cy="4596141"/>
            <a:chOff x="0" y="0"/>
            <a:chExt cx="1381680" cy="12157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1680" cy="1215789"/>
            </a:xfrm>
            <a:custGeom>
              <a:avLst/>
              <a:gdLst/>
              <a:ahLst/>
              <a:cxnLst/>
              <a:rect l="l" t="t" r="r" b="b"/>
              <a:pathLst>
                <a:path w="1381680" h="1215789">
                  <a:moveTo>
                    <a:pt x="75592" y="0"/>
                  </a:moveTo>
                  <a:lnTo>
                    <a:pt x="1306088" y="0"/>
                  </a:lnTo>
                  <a:cubicBezTo>
                    <a:pt x="1326137" y="0"/>
                    <a:pt x="1345364" y="7964"/>
                    <a:pt x="1359540" y="22140"/>
                  </a:cubicBezTo>
                  <a:cubicBezTo>
                    <a:pt x="1373716" y="36317"/>
                    <a:pt x="1381680" y="55544"/>
                    <a:pt x="1381680" y="75592"/>
                  </a:cubicBezTo>
                  <a:lnTo>
                    <a:pt x="1381680" y="1140197"/>
                  </a:lnTo>
                  <a:cubicBezTo>
                    <a:pt x="1381680" y="1160246"/>
                    <a:pt x="1373716" y="1179473"/>
                    <a:pt x="1359540" y="1193649"/>
                  </a:cubicBezTo>
                  <a:cubicBezTo>
                    <a:pt x="1345364" y="1207825"/>
                    <a:pt x="1326137" y="1215789"/>
                    <a:pt x="1306088" y="1215789"/>
                  </a:cubicBezTo>
                  <a:lnTo>
                    <a:pt x="75592" y="1215789"/>
                  </a:lnTo>
                  <a:cubicBezTo>
                    <a:pt x="55544" y="1215789"/>
                    <a:pt x="36317" y="1207825"/>
                    <a:pt x="22140" y="1193649"/>
                  </a:cubicBezTo>
                  <a:cubicBezTo>
                    <a:pt x="7964" y="1179473"/>
                    <a:pt x="0" y="1160246"/>
                    <a:pt x="0" y="1140197"/>
                  </a:cubicBezTo>
                  <a:lnTo>
                    <a:pt x="0" y="75592"/>
                  </a:lnTo>
                  <a:cubicBezTo>
                    <a:pt x="0" y="55544"/>
                    <a:pt x="7964" y="36317"/>
                    <a:pt x="22140" y="22140"/>
                  </a:cubicBezTo>
                  <a:cubicBezTo>
                    <a:pt x="36317" y="7964"/>
                    <a:pt x="55544" y="0"/>
                    <a:pt x="75592" y="0"/>
                  </a:cubicBezTo>
                  <a:close/>
                </a:path>
              </a:pathLst>
            </a:custGeom>
            <a:solidFill>
              <a:srgbClr val="F20A7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81680" cy="1253889"/>
            </a:xfrm>
            <a:prstGeom prst="rect">
              <a:avLst/>
            </a:prstGeom>
          </p:spPr>
          <p:txBody>
            <a:bodyPr lIns="50579" tIns="50579" rIns="50579" bIns="50579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13659" y="3358452"/>
            <a:ext cx="5223271" cy="4548294"/>
            <a:chOff x="0" y="0"/>
            <a:chExt cx="1381680" cy="12031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81680" cy="1203133"/>
            </a:xfrm>
            <a:custGeom>
              <a:avLst/>
              <a:gdLst/>
              <a:ahLst/>
              <a:cxnLst/>
              <a:rect l="l" t="t" r="r" b="b"/>
              <a:pathLst>
                <a:path w="1381680" h="1203133">
                  <a:moveTo>
                    <a:pt x="75592" y="0"/>
                  </a:moveTo>
                  <a:lnTo>
                    <a:pt x="1306088" y="0"/>
                  </a:lnTo>
                  <a:cubicBezTo>
                    <a:pt x="1326137" y="0"/>
                    <a:pt x="1345364" y="7964"/>
                    <a:pt x="1359540" y="22140"/>
                  </a:cubicBezTo>
                  <a:cubicBezTo>
                    <a:pt x="1373716" y="36317"/>
                    <a:pt x="1381680" y="55544"/>
                    <a:pt x="1381680" y="75592"/>
                  </a:cubicBezTo>
                  <a:lnTo>
                    <a:pt x="1381680" y="1127541"/>
                  </a:lnTo>
                  <a:cubicBezTo>
                    <a:pt x="1381680" y="1147589"/>
                    <a:pt x="1373716" y="1166816"/>
                    <a:pt x="1359540" y="1180992"/>
                  </a:cubicBezTo>
                  <a:cubicBezTo>
                    <a:pt x="1345364" y="1195169"/>
                    <a:pt x="1326137" y="1203133"/>
                    <a:pt x="1306088" y="1203133"/>
                  </a:cubicBezTo>
                  <a:lnTo>
                    <a:pt x="75592" y="1203133"/>
                  </a:lnTo>
                  <a:cubicBezTo>
                    <a:pt x="55544" y="1203133"/>
                    <a:pt x="36317" y="1195169"/>
                    <a:pt x="22140" y="1180992"/>
                  </a:cubicBezTo>
                  <a:cubicBezTo>
                    <a:pt x="7964" y="1166816"/>
                    <a:pt x="0" y="1147589"/>
                    <a:pt x="0" y="1127541"/>
                  </a:cubicBezTo>
                  <a:lnTo>
                    <a:pt x="0" y="75592"/>
                  </a:lnTo>
                  <a:cubicBezTo>
                    <a:pt x="0" y="55544"/>
                    <a:pt x="7964" y="36317"/>
                    <a:pt x="22140" y="22140"/>
                  </a:cubicBezTo>
                  <a:cubicBezTo>
                    <a:pt x="36317" y="7964"/>
                    <a:pt x="55544" y="0"/>
                    <a:pt x="755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20A73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81680" cy="1241233"/>
            </a:xfrm>
            <a:prstGeom prst="rect">
              <a:avLst/>
            </a:prstGeom>
          </p:spPr>
          <p:txBody>
            <a:bodyPr lIns="50579" tIns="50579" rIns="50579" bIns="50579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6576169">
            <a:off x="7271081" y="7627861"/>
            <a:ext cx="1145132" cy="2041974"/>
          </a:xfrm>
          <a:custGeom>
            <a:avLst/>
            <a:gdLst/>
            <a:ahLst/>
            <a:cxnLst/>
            <a:rect l="l" t="t" r="r" b="b"/>
            <a:pathLst>
              <a:path w="1145132" h="2041974">
                <a:moveTo>
                  <a:pt x="0" y="0"/>
                </a:moveTo>
                <a:lnTo>
                  <a:pt x="1145132" y="0"/>
                </a:lnTo>
                <a:lnTo>
                  <a:pt x="1145132" y="2041974"/>
                </a:lnTo>
                <a:lnTo>
                  <a:pt x="0" y="20419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636925" y="3621586"/>
            <a:ext cx="985753" cy="867764"/>
          </a:xfrm>
          <a:custGeom>
            <a:avLst/>
            <a:gdLst/>
            <a:ahLst/>
            <a:cxnLst/>
            <a:rect l="l" t="t" r="r" b="b"/>
            <a:pathLst>
              <a:path w="985753" h="867764">
                <a:moveTo>
                  <a:pt x="0" y="0"/>
                </a:moveTo>
                <a:lnTo>
                  <a:pt x="985752" y="0"/>
                </a:lnTo>
                <a:lnTo>
                  <a:pt x="985752" y="867765"/>
                </a:lnTo>
                <a:lnTo>
                  <a:pt x="0" y="867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798" b="-6798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807920" y="3514664"/>
            <a:ext cx="1015298" cy="974686"/>
          </a:xfrm>
          <a:custGeom>
            <a:avLst/>
            <a:gdLst/>
            <a:ahLst/>
            <a:cxnLst/>
            <a:rect l="l" t="t" r="r" b="b"/>
            <a:pathLst>
              <a:path w="1015298" h="974686">
                <a:moveTo>
                  <a:pt x="0" y="0"/>
                </a:moveTo>
                <a:lnTo>
                  <a:pt x="1015298" y="0"/>
                </a:lnTo>
                <a:lnTo>
                  <a:pt x="1015298" y="974686"/>
                </a:lnTo>
                <a:lnTo>
                  <a:pt x="0" y="9746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951" b="-15574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559770" y="5887610"/>
            <a:ext cx="3654839" cy="1556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21">
                <a:solidFill>
                  <a:srgbClr val="000000"/>
                </a:solidFill>
                <a:latin typeface="Fahkwang"/>
                <a:ea typeface="Fahkwang"/>
                <a:cs typeface="Fahkwang"/>
                <a:sym typeface="Fahkwang"/>
              </a:rPr>
              <a:t>The total amount of money received from customer transactions (Gross Revenue).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01509" y="4415297"/>
            <a:ext cx="4037860" cy="70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8"/>
              </a:lnSpc>
            </a:pPr>
            <a:r>
              <a:rPr lang="en-US" sz="3484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Quantity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47111" y="5887610"/>
            <a:ext cx="4365380" cy="161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314">
                <a:solidFill>
                  <a:srgbClr val="000000"/>
                </a:solidFill>
                <a:latin typeface="Fahkwang"/>
                <a:ea typeface="Fahkwang"/>
                <a:cs typeface="Fahkwang"/>
                <a:sym typeface="Fahkwang"/>
              </a:rPr>
              <a:t>The average transaction value spent by a customer per order within a specific period of time.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53278" y="822325"/>
            <a:ext cx="9962394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Dataset Overview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65051" y="5094459"/>
            <a:ext cx="1644277" cy="694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4"/>
              </a:lnSpc>
            </a:pPr>
            <a:r>
              <a:rPr lang="en-US" sz="412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17.950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18165" y="4443872"/>
            <a:ext cx="5014259" cy="62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6"/>
              </a:lnSpc>
            </a:pPr>
            <a:r>
              <a:rPr lang="en-US" sz="3140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Average Order Value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41713" y="5045474"/>
            <a:ext cx="2095128" cy="694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4"/>
              </a:lnSpc>
            </a:pPr>
            <a:r>
              <a:rPr lang="en-US" sz="412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2.390,65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5337" y="2009959"/>
            <a:ext cx="7297801" cy="4787183"/>
          </a:xfrm>
          <a:custGeom>
            <a:avLst/>
            <a:gdLst/>
            <a:ahLst/>
            <a:cxnLst/>
            <a:rect l="l" t="t" r="r" b="b"/>
            <a:pathLst>
              <a:path w="7297801" h="4787183">
                <a:moveTo>
                  <a:pt x="0" y="0"/>
                </a:moveTo>
                <a:lnTo>
                  <a:pt x="7297801" y="0"/>
                </a:lnTo>
                <a:lnTo>
                  <a:pt x="7297801" y="4787184"/>
                </a:lnTo>
                <a:lnTo>
                  <a:pt x="0" y="478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66" t="-27374" b="-108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15759" y="1655669"/>
            <a:ext cx="1455330" cy="1511447"/>
          </a:xfrm>
          <a:custGeom>
            <a:avLst/>
            <a:gdLst/>
            <a:ahLst/>
            <a:cxnLst/>
            <a:rect l="l" t="t" r="r" b="b"/>
            <a:pathLst>
              <a:path w="1455330" h="1511447">
                <a:moveTo>
                  <a:pt x="0" y="0"/>
                </a:moveTo>
                <a:lnTo>
                  <a:pt x="1455331" y="0"/>
                </a:lnTo>
                <a:lnTo>
                  <a:pt x="1455331" y="1511447"/>
                </a:lnTo>
                <a:lnTo>
                  <a:pt x="0" y="1511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19912"/>
            <a:ext cx="2245059" cy="1800129"/>
          </a:xfrm>
          <a:custGeom>
            <a:avLst/>
            <a:gdLst/>
            <a:ahLst/>
            <a:cxnLst/>
            <a:rect l="l" t="t" r="r" b="b"/>
            <a:pathLst>
              <a:path w="2245059" h="1800129">
                <a:moveTo>
                  <a:pt x="0" y="0"/>
                </a:moveTo>
                <a:lnTo>
                  <a:pt x="2245059" y="0"/>
                </a:lnTo>
                <a:lnTo>
                  <a:pt x="2245059" y="1800129"/>
                </a:lnTo>
                <a:lnTo>
                  <a:pt x="0" y="18001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287238" y="227278"/>
            <a:ext cx="7679407" cy="1782682"/>
            <a:chOff x="0" y="0"/>
            <a:chExt cx="2022560" cy="4695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22560" cy="469513"/>
            </a:xfrm>
            <a:custGeom>
              <a:avLst/>
              <a:gdLst/>
              <a:ahLst/>
              <a:cxnLst/>
              <a:rect l="l" t="t" r="r" b="b"/>
              <a:pathLst>
                <a:path w="2022560" h="469513">
                  <a:moveTo>
                    <a:pt x="61497" y="0"/>
                  </a:moveTo>
                  <a:lnTo>
                    <a:pt x="1961063" y="0"/>
                  </a:lnTo>
                  <a:cubicBezTo>
                    <a:pt x="1995027" y="0"/>
                    <a:pt x="2022560" y="27533"/>
                    <a:pt x="2022560" y="61497"/>
                  </a:cubicBezTo>
                  <a:lnTo>
                    <a:pt x="2022560" y="408016"/>
                  </a:lnTo>
                  <a:cubicBezTo>
                    <a:pt x="2022560" y="441980"/>
                    <a:pt x="1995027" y="469513"/>
                    <a:pt x="1961063" y="469513"/>
                  </a:cubicBezTo>
                  <a:lnTo>
                    <a:pt x="61497" y="469513"/>
                  </a:lnTo>
                  <a:cubicBezTo>
                    <a:pt x="27533" y="469513"/>
                    <a:pt x="0" y="441980"/>
                    <a:pt x="0" y="408016"/>
                  </a:cubicBezTo>
                  <a:lnTo>
                    <a:pt x="0" y="61497"/>
                  </a:lnTo>
                  <a:cubicBezTo>
                    <a:pt x="0" y="27533"/>
                    <a:pt x="27533" y="0"/>
                    <a:pt x="61497" y="0"/>
                  </a:cubicBezTo>
                  <a:close/>
                </a:path>
              </a:pathLst>
            </a:custGeom>
            <a:solidFill>
              <a:srgbClr val="F20A7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22560" cy="507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54702" y="317196"/>
            <a:ext cx="7344478" cy="1602845"/>
            <a:chOff x="0" y="0"/>
            <a:chExt cx="1934348" cy="4221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4348" cy="422148"/>
            </a:xfrm>
            <a:custGeom>
              <a:avLst/>
              <a:gdLst/>
              <a:ahLst/>
              <a:cxnLst/>
              <a:rect l="l" t="t" r="r" b="b"/>
              <a:pathLst>
                <a:path w="1934348" h="422148">
                  <a:moveTo>
                    <a:pt x="64301" y="0"/>
                  </a:moveTo>
                  <a:lnTo>
                    <a:pt x="1870047" y="0"/>
                  </a:lnTo>
                  <a:cubicBezTo>
                    <a:pt x="1887101" y="0"/>
                    <a:pt x="1903456" y="6775"/>
                    <a:pt x="1915515" y="18833"/>
                  </a:cubicBezTo>
                  <a:cubicBezTo>
                    <a:pt x="1927574" y="30892"/>
                    <a:pt x="1934348" y="47247"/>
                    <a:pt x="1934348" y="64301"/>
                  </a:cubicBezTo>
                  <a:lnTo>
                    <a:pt x="1934348" y="357847"/>
                  </a:lnTo>
                  <a:cubicBezTo>
                    <a:pt x="1934348" y="374901"/>
                    <a:pt x="1927574" y="391256"/>
                    <a:pt x="1915515" y="403315"/>
                  </a:cubicBezTo>
                  <a:cubicBezTo>
                    <a:pt x="1903456" y="415374"/>
                    <a:pt x="1887101" y="422148"/>
                    <a:pt x="1870047" y="422148"/>
                  </a:cubicBezTo>
                  <a:lnTo>
                    <a:pt x="64301" y="422148"/>
                  </a:lnTo>
                  <a:cubicBezTo>
                    <a:pt x="28789" y="422148"/>
                    <a:pt x="0" y="393360"/>
                    <a:pt x="0" y="357847"/>
                  </a:cubicBezTo>
                  <a:lnTo>
                    <a:pt x="0" y="64301"/>
                  </a:lnTo>
                  <a:cubicBezTo>
                    <a:pt x="0" y="47247"/>
                    <a:pt x="6775" y="30892"/>
                    <a:pt x="18833" y="18833"/>
                  </a:cubicBezTo>
                  <a:cubicBezTo>
                    <a:pt x="30892" y="6775"/>
                    <a:pt x="47247" y="0"/>
                    <a:pt x="643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4348" cy="460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986088" y="2057806"/>
            <a:ext cx="7387752" cy="4739337"/>
          </a:xfrm>
          <a:custGeom>
            <a:avLst/>
            <a:gdLst/>
            <a:ahLst/>
            <a:cxnLst/>
            <a:rect l="l" t="t" r="r" b="b"/>
            <a:pathLst>
              <a:path w="7387752" h="4739337">
                <a:moveTo>
                  <a:pt x="0" y="0"/>
                </a:moveTo>
                <a:lnTo>
                  <a:pt x="7387751" y="0"/>
                </a:lnTo>
                <a:lnTo>
                  <a:pt x="7387751" y="4739337"/>
                </a:lnTo>
                <a:lnTo>
                  <a:pt x="0" y="4739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164" t="-25762" r="-1909" b="-840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7018717"/>
            <a:ext cx="7300546" cy="27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32"/>
              </a:lnSpc>
            </a:pPr>
            <a:r>
              <a:rPr lang="en-US" sz="26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Looking at the demographics, the majority of foodpanda users are predominantly female 2018 (33,63%). This suggests that our future marketing strategies and product positioning should lean heavily toward female preferences and trends.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7018717"/>
            <a:ext cx="7300546" cy="465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38"/>
              </a:lnSpc>
            </a:pPr>
            <a:r>
              <a:rPr lang="en-US" sz="26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Although Cash remained the most widely used payment method (33.98%), the strong adoption of Card and Wallet presents an opportunity to promote digital payments through cashback programs, loyalty rewards, and exclusive offers.</a:t>
            </a:r>
          </a:p>
          <a:p>
            <a:pPr algn="just">
              <a:lnSpc>
                <a:spcPts val="3738"/>
              </a:lnSpc>
            </a:pPr>
            <a:endParaRPr lang="en-US" sz="267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738"/>
              </a:lnSpc>
            </a:pPr>
            <a:endParaRPr lang="en-US" sz="267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738"/>
              </a:lnSpc>
            </a:pPr>
            <a:endParaRPr lang="en-US" sz="267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738"/>
              </a:lnSpc>
            </a:pPr>
            <a:endParaRPr lang="en-US" sz="267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745099" y="247776"/>
            <a:ext cx="6763685" cy="139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1"/>
              </a:lnSpc>
            </a:pPr>
            <a:r>
              <a:rPr lang="en-US" sz="817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0448" y="2113394"/>
            <a:ext cx="16434108" cy="3816891"/>
          </a:xfrm>
          <a:custGeom>
            <a:avLst/>
            <a:gdLst/>
            <a:ahLst/>
            <a:cxnLst/>
            <a:rect l="l" t="t" r="r" b="b"/>
            <a:pathLst>
              <a:path w="16434108" h="3816891">
                <a:moveTo>
                  <a:pt x="0" y="0"/>
                </a:moveTo>
                <a:lnTo>
                  <a:pt x="16434108" y="0"/>
                </a:lnTo>
                <a:lnTo>
                  <a:pt x="16434108" y="3816891"/>
                </a:lnTo>
                <a:lnTo>
                  <a:pt x="0" y="3816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95" b="-276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5797" y="8693347"/>
            <a:ext cx="2036300" cy="1593653"/>
          </a:xfrm>
          <a:custGeom>
            <a:avLst/>
            <a:gdLst/>
            <a:ahLst/>
            <a:cxnLst/>
            <a:rect l="l" t="t" r="r" b="b"/>
            <a:pathLst>
              <a:path w="2036300" h="1593653">
                <a:moveTo>
                  <a:pt x="0" y="0"/>
                </a:moveTo>
                <a:lnTo>
                  <a:pt x="2036300" y="0"/>
                </a:lnTo>
                <a:lnTo>
                  <a:pt x="2036300" y="1593653"/>
                </a:lnTo>
                <a:lnTo>
                  <a:pt x="0" y="15936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1388" y="0"/>
            <a:ext cx="18479388" cy="1482558"/>
            <a:chOff x="0" y="0"/>
            <a:chExt cx="4866999" cy="3904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66999" cy="390468"/>
            </a:xfrm>
            <a:custGeom>
              <a:avLst/>
              <a:gdLst/>
              <a:ahLst/>
              <a:cxnLst/>
              <a:rect l="l" t="t" r="r" b="b"/>
              <a:pathLst>
                <a:path w="4866999" h="390468">
                  <a:moveTo>
                    <a:pt x="7122" y="0"/>
                  </a:moveTo>
                  <a:lnTo>
                    <a:pt x="4859877" y="0"/>
                  </a:lnTo>
                  <a:cubicBezTo>
                    <a:pt x="4863811" y="0"/>
                    <a:pt x="4866999" y="3189"/>
                    <a:pt x="4866999" y="7122"/>
                  </a:cubicBezTo>
                  <a:lnTo>
                    <a:pt x="4866999" y="383346"/>
                  </a:lnTo>
                  <a:cubicBezTo>
                    <a:pt x="4866999" y="385235"/>
                    <a:pt x="4866249" y="387046"/>
                    <a:pt x="4864914" y="388382"/>
                  </a:cubicBezTo>
                  <a:cubicBezTo>
                    <a:pt x="4863578" y="389718"/>
                    <a:pt x="4861766" y="390468"/>
                    <a:pt x="4859877" y="390468"/>
                  </a:cubicBezTo>
                  <a:lnTo>
                    <a:pt x="7122" y="390468"/>
                  </a:lnTo>
                  <a:cubicBezTo>
                    <a:pt x="3189" y="390468"/>
                    <a:pt x="0" y="387279"/>
                    <a:pt x="0" y="383346"/>
                  </a:cubicBezTo>
                  <a:lnTo>
                    <a:pt x="0" y="7122"/>
                  </a:lnTo>
                  <a:cubicBezTo>
                    <a:pt x="0" y="3189"/>
                    <a:pt x="3189" y="0"/>
                    <a:pt x="7122" y="0"/>
                  </a:cubicBezTo>
                  <a:close/>
                </a:path>
              </a:pathLst>
            </a:custGeom>
            <a:solidFill>
              <a:srgbClr val="FF4E8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66999" cy="42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5986" y="221531"/>
            <a:ext cx="14745057" cy="9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Monthly Revenue &amp; Transaction Volume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39238" y="4925908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922353" y="6319464"/>
            <a:ext cx="16482204" cy="216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15"/>
              </a:lnSpc>
            </a:pPr>
            <a:r>
              <a:rPr lang="en-US" sz="30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Based on the Monthly Revenue and Transaction Volume analysis, the highest revenue and transaction volume were recorded in September 2023, reaching $696,622.20. This indicates that customer demand was at its peak during this period, resulting in both increased order activity and higher sales performance.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7979225"/>
            <a:ext cx="1764260" cy="1164412"/>
          </a:xfrm>
          <a:custGeom>
            <a:avLst/>
            <a:gdLst/>
            <a:ahLst/>
            <a:cxnLst/>
            <a:rect l="l" t="t" r="r" b="b"/>
            <a:pathLst>
              <a:path w="1764260" h="1164412">
                <a:moveTo>
                  <a:pt x="1764260" y="0"/>
                </a:moveTo>
                <a:lnTo>
                  <a:pt x="0" y="0"/>
                </a:lnTo>
                <a:lnTo>
                  <a:pt x="0" y="1164412"/>
                </a:lnTo>
                <a:lnTo>
                  <a:pt x="1764260" y="1164412"/>
                </a:lnTo>
                <a:lnTo>
                  <a:pt x="17642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8" name="Freeform 8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8320752" y="-318439"/>
            <a:ext cx="1898733" cy="1974108"/>
          </a:xfrm>
          <a:custGeom>
            <a:avLst/>
            <a:gdLst/>
            <a:ahLst/>
            <a:cxnLst/>
            <a:rect l="l" t="t" r="r" b="b"/>
            <a:pathLst>
              <a:path w="1898733" h="1974108">
                <a:moveTo>
                  <a:pt x="0" y="0"/>
                </a:moveTo>
                <a:lnTo>
                  <a:pt x="1898733" y="0"/>
                </a:lnTo>
                <a:lnTo>
                  <a:pt x="1898733" y="1974108"/>
                </a:lnTo>
                <a:lnTo>
                  <a:pt x="0" y="1974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8074" y="3144308"/>
            <a:ext cx="6060123" cy="4550262"/>
          </a:xfrm>
          <a:custGeom>
            <a:avLst/>
            <a:gdLst/>
            <a:ahLst/>
            <a:cxnLst/>
            <a:rect l="l" t="t" r="r" b="b"/>
            <a:pathLst>
              <a:path w="6060123" h="4550262">
                <a:moveTo>
                  <a:pt x="0" y="0"/>
                </a:moveTo>
                <a:lnTo>
                  <a:pt x="6060123" y="0"/>
                </a:lnTo>
                <a:lnTo>
                  <a:pt x="6060123" y="4550262"/>
                </a:lnTo>
                <a:lnTo>
                  <a:pt x="0" y="455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111" t="-13231" r="-470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08800" y="1930069"/>
            <a:ext cx="13774650" cy="91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4"/>
              </a:lnSpc>
            </a:pPr>
            <a:r>
              <a:rPr lang="en-US" sz="5100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Customer Engagement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3693" y="3731056"/>
            <a:ext cx="9438482" cy="51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analysis shows that approximately 3,016 customers (50.27%) remain active on the platform, while the remaining customers are inactive or have stopped using the application. This indicates that customer retention remains a key challenge for the business. Customer inactivity may be influenced by various factors, including increased competition, changes in customer preferences, pricing concerns, service quality issues, or a lack of engagement and loyalty initiatives.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7" name="Freeform 7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605378" y="2740540"/>
            <a:ext cx="15282629" cy="3724515"/>
          </a:xfrm>
          <a:custGeom>
            <a:avLst/>
            <a:gdLst/>
            <a:ahLst/>
            <a:cxnLst/>
            <a:rect l="l" t="t" r="r" b="b"/>
            <a:pathLst>
              <a:path w="15282629" h="3724515">
                <a:moveTo>
                  <a:pt x="0" y="0"/>
                </a:moveTo>
                <a:lnTo>
                  <a:pt x="15282629" y="0"/>
                </a:lnTo>
                <a:lnTo>
                  <a:pt x="15282629" y="3724515"/>
                </a:lnTo>
                <a:lnTo>
                  <a:pt x="0" y="3724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569" b="-18569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25506" y="8085631"/>
            <a:ext cx="1455330" cy="1511447"/>
          </a:xfrm>
          <a:custGeom>
            <a:avLst/>
            <a:gdLst/>
            <a:ahLst/>
            <a:cxnLst/>
            <a:rect l="l" t="t" r="r" b="b"/>
            <a:pathLst>
              <a:path w="1455330" h="1511447">
                <a:moveTo>
                  <a:pt x="0" y="0"/>
                </a:moveTo>
                <a:lnTo>
                  <a:pt x="1455330" y="0"/>
                </a:lnTo>
                <a:lnTo>
                  <a:pt x="1455330" y="1511447"/>
                </a:lnTo>
                <a:lnTo>
                  <a:pt x="0" y="1511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1958" y="987581"/>
            <a:ext cx="11676320" cy="117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Revenue by Category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7675" y="6974683"/>
            <a:ext cx="15118035" cy="215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6"/>
              </a:lnSpc>
              <a:spcBef>
                <a:spcPct val="0"/>
              </a:spcBef>
            </a:pPr>
            <a:r>
              <a:rPr lang="en-US" sz="3061">
                <a:solidFill>
                  <a:srgbClr val="000000"/>
                </a:solidFill>
                <a:latin typeface="Fahkwang"/>
                <a:ea typeface="Fahkwang"/>
                <a:cs typeface="Fahkwang"/>
                <a:sym typeface="Fahkwang"/>
              </a:rPr>
              <a:t>Multan contributed the highest city-category revenue, generating $668,897.12 from Continental cuisine. Meanwhile, Italian cuisine emerged as the best-performing category overall, generating total revenue of $2.928.524,26 across all cities.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64242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7" name="Freeform 7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765779" y="2353178"/>
            <a:ext cx="14756443" cy="4001082"/>
          </a:xfrm>
          <a:custGeom>
            <a:avLst/>
            <a:gdLst/>
            <a:ahLst/>
            <a:cxnLst/>
            <a:rect l="l" t="t" r="r" b="b"/>
            <a:pathLst>
              <a:path w="14756443" h="4001082">
                <a:moveTo>
                  <a:pt x="0" y="0"/>
                </a:moveTo>
                <a:lnTo>
                  <a:pt x="14756442" y="0"/>
                </a:lnTo>
                <a:lnTo>
                  <a:pt x="14756442" y="4001082"/>
                </a:lnTo>
                <a:lnTo>
                  <a:pt x="0" y="4001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863" r="-1624" b="-426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65029" y="828386"/>
            <a:ext cx="14157941" cy="1176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Revenue by Restaurant Name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4469" y="6659060"/>
            <a:ext cx="14756443" cy="245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8"/>
              </a:lnSpc>
              <a:spcBef>
                <a:spcPct val="0"/>
              </a:spcBef>
            </a:pPr>
            <a:r>
              <a:rPr lang="en-US" sz="2805">
                <a:solidFill>
                  <a:srgbClr val="000000"/>
                </a:solidFill>
                <a:latin typeface="Fahkwang"/>
                <a:ea typeface="Fahkwang"/>
                <a:cs typeface="Fahkwang"/>
                <a:sym typeface="Fahkwang"/>
              </a:rPr>
              <a:t>Subway in Multan recorded the highest revenue among restaurant-city combinations, generating $708,185.93. Meanwhile, Pizza Hut ranked as the highest-performing restaurant overall, contributing $3,002,380.59 in revenue across all five cities.</a:t>
            </a:r>
          </a:p>
          <a:p>
            <a:pPr algn="just">
              <a:lnSpc>
                <a:spcPts val="3928"/>
              </a:lnSpc>
              <a:spcBef>
                <a:spcPct val="0"/>
              </a:spcBef>
            </a:pPr>
            <a:endParaRPr lang="en-US" sz="2805">
              <a:solidFill>
                <a:srgbClr val="000000"/>
              </a:solidFill>
              <a:latin typeface="Fahkwang"/>
              <a:ea typeface="Fahkwang"/>
              <a:cs typeface="Fahkwang"/>
              <a:sym typeface="Fahkwang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7" name="Freeform 7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650763" y="3192893"/>
            <a:ext cx="9423003" cy="2640542"/>
            <a:chOff x="0" y="0"/>
            <a:chExt cx="2716358" cy="7611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16357" cy="761186"/>
            </a:xfrm>
            <a:custGeom>
              <a:avLst/>
              <a:gdLst/>
              <a:ahLst/>
              <a:cxnLst/>
              <a:rect l="l" t="t" r="r" b="b"/>
              <a:pathLst>
                <a:path w="2716357" h="761186">
                  <a:moveTo>
                    <a:pt x="41901" y="0"/>
                  </a:moveTo>
                  <a:lnTo>
                    <a:pt x="2674456" y="0"/>
                  </a:lnTo>
                  <a:cubicBezTo>
                    <a:pt x="2697598" y="0"/>
                    <a:pt x="2716357" y="18760"/>
                    <a:pt x="2716357" y="41901"/>
                  </a:cubicBezTo>
                  <a:lnTo>
                    <a:pt x="2716357" y="719284"/>
                  </a:lnTo>
                  <a:cubicBezTo>
                    <a:pt x="2716357" y="742426"/>
                    <a:pt x="2697598" y="761186"/>
                    <a:pt x="2674456" y="761186"/>
                  </a:cubicBezTo>
                  <a:lnTo>
                    <a:pt x="41901" y="761186"/>
                  </a:lnTo>
                  <a:cubicBezTo>
                    <a:pt x="18760" y="761186"/>
                    <a:pt x="0" y="742426"/>
                    <a:pt x="0" y="719284"/>
                  </a:cubicBezTo>
                  <a:lnTo>
                    <a:pt x="0" y="41901"/>
                  </a:lnTo>
                  <a:cubicBezTo>
                    <a:pt x="0" y="18760"/>
                    <a:pt x="18760" y="0"/>
                    <a:pt x="41901" y="0"/>
                  </a:cubicBezTo>
                  <a:close/>
                </a:path>
              </a:pathLst>
            </a:custGeom>
            <a:solidFill>
              <a:srgbClr val="F20A7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16358" cy="799286"/>
            </a:xfrm>
            <a:prstGeom prst="rect">
              <a:avLst/>
            </a:prstGeom>
          </p:spPr>
          <p:txBody>
            <a:bodyPr lIns="46413" tIns="46413" rIns="46413" bIns="46413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73411" y="3281451"/>
            <a:ext cx="9400428" cy="2551983"/>
            <a:chOff x="0" y="0"/>
            <a:chExt cx="2709850" cy="7356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850" cy="735657"/>
            </a:xfrm>
            <a:custGeom>
              <a:avLst/>
              <a:gdLst/>
              <a:ahLst/>
              <a:cxnLst/>
              <a:rect l="l" t="t" r="r" b="b"/>
              <a:pathLst>
                <a:path w="2709850" h="735657">
                  <a:moveTo>
                    <a:pt x="42002" y="0"/>
                  </a:moveTo>
                  <a:lnTo>
                    <a:pt x="2667848" y="0"/>
                  </a:lnTo>
                  <a:cubicBezTo>
                    <a:pt x="2691045" y="0"/>
                    <a:pt x="2709850" y="18805"/>
                    <a:pt x="2709850" y="42002"/>
                  </a:cubicBezTo>
                  <a:lnTo>
                    <a:pt x="2709850" y="693655"/>
                  </a:lnTo>
                  <a:cubicBezTo>
                    <a:pt x="2709850" y="716852"/>
                    <a:pt x="2691045" y="735657"/>
                    <a:pt x="2667848" y="735657"/>
                  </a:cubicBezTo>
                  <a:lnTo>
                    <a:pt x="42002" y="735657"/>
                  </a:lnTo>
                  <a:cubicBezTo>
                    <a:pt x="18805" y="735657"/>
                    <a:pt x="0" y="716852"/>
                    <a:pt x="0" y="693655"/>
                  </a:cubicBezTo>
                  <a:lnTo>
                    <a:pt x="0" y="42002"/>
                  </a:lnTo>
                  <a:cubicBezTo>
                    <a:pt x="0" y="18805"/>
                    <a:pt x="18805" y="0"/>
                    <a:pt x="4200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20A73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709850" cy="773757"/>
            </a:xfrm>
            <a:prstGeom prst="rect">
              <a:avLst/>
            </a:prstGeom>
          </p:spPr>
          <p:txBody>
            <a:bodyPr lIns="46413" tIns="46413" rIns="46413" bIns="46413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57438" y="2137340"/>
            <a:ext cx="4697004" cy="6012321"/>
          </a:xfrm>
          <a:custGeom>
            <a:avLst/>
            <a:gdLst/>
            <a:ahLst/>
            <a:cxnLst/>
            <a:rect l="l" t="t" r="r" b="b"/>
            <a:pathLst>
              <a:path w="4697004" h="6012321">
                <a:moveTo>
                  <a:pt x="0" y="0"/>
                </a:moveTo>
                <a:lnTo>
                  <a:pt x="4697004" y="0"/>
                </a:lnTo>
                <a:lnTo>
                  <a:pt x="4697004" y="6012320"/>
                </a:lnTo>
                <a:lnTo>
                  <a:pt x="0" y="601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22" t="-9940" r="-117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287353" y="6876101"/>
            <a:ext cx="2547118" cy="2547118"/>
          </a:xfrm>
          <a:custGeom>
            <a:avLst/>
            <a:gdLst/>
            <a:ahLst/>
            <a:cxnLst/>
            <a:rect l="l" t="t" r="r" b="b"/>
            <a:pathLst>
              <a:path w="2547118" h="2547118">
                <a:moveTo>
                  <a:pt x="0" y="0"/>
                </a:moveTo>
                <a:lnTo>
                  <a:pt x="2547117" y="0"/>
                </a:lnTo>
                <a:lnTo>
                  <a:pt x="2547117" y="2547118"/>
                </a:lnTo>
                <a:lnTo>
                  <a:pt x="0" y="2547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650763" y="73717"/>
            <a:ext cx="7407292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Production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3349" y="3528852"/>
            <a:ext cx="9004263" cy="19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Fahkwang"/>
                <a:ea typeface="Fahkwang"/>
                <a:cs typeface="Fahkwang"/>
                <a:sym typeface="Fahkwang"/>
              </a:rPr>
              <a:t>Occasional Customers formed the largest customer segment, with 1,252 customers, highlighting the potential to increase customer engagement and retention.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0637" y="1605807"/>
            <a:ext cx="13063862" cy="2181726"/>
            <a:chOff x="0" y="0"/>
            <a:chExt cx="3440688" cy="5746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40688" cy="574611"/>
            </a:xfrm>
            <a:custGeom>
              <a:avLst/>
              <a:gdLst/>
              <a:ahLst/>
              <a:cxnLst/>
              <a:rect l="l" t="t" r="r" b="b"/>
              <a:pathLst>
                <a:path w="3440688" h="574611">
                  <a:moveTo>
                    <a:pt x="30224" y="0"/>
                  </a:moveTo>
                  <a:lnTo>
                    <a:pt x="3410464" y="0"/>
                  </a:lnTo>
                  <a:cubicBezTo>
                    <a:pt x="3427156" y="0"/>
                    <a:pt x="3440688" y="13532"/>
                    <a:pt x="3440688" y="30224"/>
                  </a:cubicBezTo>
                  <a:lnTo>
                    <a:pt x="3440688" y="544387"/>
                  </a:lnTo>
                  <a:cubicBezTo>
                    <a:pt x="3440688" y="561079"/>
                    <a:pt x="3427156" y="574611"/>
                    <a:pt x="3410464" y="574611"/>
                  </a:cubicBezTo>
                  <a:lnTo>
                    <a:pt x="30224" y="574611"/>
                  </a:lnTo>
                  <a:cubicBezTo>
                    <a:pt x="13532" y="574611"/>
                    <a:pt x="0" y="561079"/>
                    <a:pt x="0" y="544387"/>
                  </a:cubicBezTo>
                  <a:lnTo>
                    <a:pt x="0" y="30224"/>
                  </a:lnTo>
                  <a:cubicBezTo>
                    <a:pt x="0" y="13532"/>
                    <a:pt x="13532" y="0"/>
                    <a:pt x="30224" y="0"/>
                  </a:cubicBezTo>
                  <a:close/>
                </a:path>
              </a:pathLst>
            </a:custGeom>
            <a:solidFill>
              <a:srgbClr val="FF4E8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440688" cy="612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8737" y="4339983"/>
            <a:ext cx="13121663" cy="2185909"/>
            <a:chOff x="0" y="0"/>
            <a:chExt cx="3455911" cy="5757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55911" cy="575713"/>
            </a:xfrm>
            <a:custGeom>
              <a:avLst/>
              <a:gdLst/>
              <a:ahLst/>
              <a:cxnLst/>
              <a:rect l="l" t="t" r="r" b="b"/>
              <a:pathLst>
                <a:path w="3455911" h="575713">
                  <a:moveTo>
                    <a:pt x="30091" y="0"/>
                  </a:moveTo>
                  <a:lnTo>
                    <a:pt x="3425821" y="0"/>
                  </a:lnTo>
                  <a:cubicBezTo>
                    <a:pt x="3433801" y="0"/>
                    <a:pt x="3441455" y="3170"/>
                    <a:pt x="3447098" y="8813"/>
                  </a:cubicBezTo>
                  <a:cubicBezTo>
                    <a:pt x="3452741" y="14456"/>
                    <a:pt x="3455911" y="22110"/>
                    <a:pt x="3455911" y="30091"/>
                  </a:cubicBezTo>
                  <a:lnTo>
                    <a:pt x="3455911" y="545622"/>
                  </a:lnTo>
                  <a:cubicBezTo>
                    <a:pt x="3455911" y="553603"/>
                    <a:pt x="3452741" y="561256"/>
                    <a:pt x="3447098" y="566899"/>
                  </a:cubicBezTo>
                  <a:cubicBezTo>
                    <a:pt x="3441455" y="572542"/>
                    <a:pt x="3433801" y="575713"/>
                    <a:pt x="3425821" y="575713"/>
                  </a:cubicBezTo>
                  <a:lnTo>
                    <a:pt x="30091" y="575713"/>
                  </a:lnTo>
                  <a:cubicBezTo>
                    <a:pt x="22110" y="575713"/>
                    <a:pt x="14456" y="572542"/>
                    <a:pt x="8813" y="566899"/>
                  </a:cubicBezTo>
                  <a:cubicBezTo>
                    <a:pt x="3170" y="561256"/>
                    <a:pt x="0" y="553603"/>
                    <a:pt x="0" y="545622"/>
                  </a:cubicBezTo>
                  <a:lnTo>
                    <a:pt x="0" y="30091"/>
                  </a:lnTo>
                  <a:cubicBezTo>
                    <a:pt x="0" y="22110"/>
                    <a:pt x="3170" y="14456"/>
                    <a:pt x="8813" y="8813"/>
                  </a:cubicBezTo>
                  <a:cubicBezTo>
                    <a:pt x="14456" y="3170"/>
                    <a:pt x="22110" y="0"/>
                    <a:pt x="30091" y="0"/>
                  </a:cubicBezTo>
                  <a:close/>
                </a:path>
              </a:pathLst>
            </a:custGeom>
            <a:solidFill>
              <a:srgbClr val="FF4E8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55911" cy="613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763498" y="5143500"/>
            <a:ext cx="5220683" cy="1031085"/>
          </a:xfrm>
          <a:custGeom>
            <a:avLst/>
            <a:gdLst/>
            <a:ahLst/>
            <a:cxnLst/>
            <a:rect l="l" t="t" r="r" b="b"/>
            <a:pathLst>
              <a:path w="5220683" h="1031085">
                <a:moveTo>
                  <a:pt x="0" y="0"/>
                </a:moveTo>
                <a:lnTo>
                  <a:pt x="5220683" y="0"/>
                </a:lnTo>
                <a:lnTo>
                  <a:pt x="5220683" y="1031085"/>
                </a:lnTo>
                <a:lnTo>
                  <a:pt x="0" y="1031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816271" y="2513062"/>
            <a:ext cx="3537264" cy="2630438"/>
          </a:xfrm>
          <a:custGeom>
            <a:avLst/>
            <a:gdLst/>
            <a:ahLst/>
            <a:cxnLst/>
            <a:rect l="l" t="t" r="r" b="b"/>
            <a:pathLst>
              <a:path w="3537264" h="2630438">
                <a:moveTo>
                  <a:pt x="0" y="0"/>
                </a:moveTo>
                <a:lnTo>
                  <a:pt x="3537264" y="0"/>
                </a:lnTo>
                <a:lnTo>
                  <a:pt x="3537264" y="2630438"/>
                </a:lnTo>
                <a:lnTo>
                  <a:pt x="0" y="2630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491525" y="2276527"/>
            <a:ext cx="1370998" cy="1565122"/>
          </a:xfrm>
          <a:custGeom>
            <a:avLst/>
            <a:gdLst/>
            <a:ahLst/>
            <a:cxnLst/>
            <a:rect l="l" t="t" r="r" b="b"/>
            <a:pathLst>
              <a:path w="1370998" h="1565122">
                <a:moveTo>
                  <a:pt x="1370998" y="0"/>
                </a:moveTo>
                <a:lnTo>
                  <a:pt x="0" y="0"/>
                </a:lnTo>
                <a:lnTo>
                  <a:pt x="0" y="1565121"/>
                </a:lnTo>
                <a:lnTo>
                  <a:pt x="1370998" y="1565121"/>
                </a:lnTo>
                <a:lnTo>
                  <a:pt x="137099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16" name="Freeform 16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58737" y="7078342"/>
            <a:ext cx="13063862" cy="2179958"/>
            <a:chOff x="0" y="0"/>
            <a:chExt cx="3440688" cy="5741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40688" cy="574145"/>
            </a:xfrm>
            <a:custGeom>
              <a:avLst/>
              <a:gdLst/>
              <a:ahLst/>
              <a:cxnLst/>
              <a:rect l="l" t="t" r="r" b="b"/>
              <a:pathLst>
                <a:path w="3440688" h="574145">
                  <a:moveTo>
                    <a:pt x="30224" y="0"/>
                  </a:moveTo>
                  <a:lnTo>
                    <a:pt x="3410464" y="0"/>
                  </a:lnTo>
                  <a:cubicBezTo>
                    <a:pt x="3427156" y="0"/>
                    <a:pt x="3440688" y="13532"/>
                    <a:pt x="3440688" y="30224"/>
                  </a:cubicBezTo>
                  <a:lnTo>
                    <a:pt x="3440688" y="543922"/>
                  </a:lnTo>
                  <a:cubicBezTo>
                    <a:pt x="3440688" y="560614"/>
                    <a:pt x="3427156" y="574145"/>
                    <a:pt x="3410464" y="574145"/>
                  </a:cubicBezTo>
                  <a:lnTo>
                    <a:pt x="30224" y="574145"/>
                  </a:lnTo>
                  <a:cubicBezTo>
                    <a:pt x="13532" y="574145"/>
                    <a:pt x="0" y="560614"/>
                    <a:pt x="0" y="543922"/>
                  </a:cubicBezTo>
                  <a:lnTo>
                    <a:pt x="0" y="30224"/>
                  </a:lnTo>
                  <a:cubicBezTo>
                    <a:pt x="0" y="13532"/>
                    <a:pt x="13532" y="0"/>
                    <a:pt x="30224" y="0"/>
                  </a:cubicBezTo>
                  <a:close/>
                </a:path>
              </a:pathLst>
            </a:custGeom>
            <a:solidFill>
              <a:srgbClr val="FF4E8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440688" cy="612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224529" y="2276527"/>
            <a:ext cx="1050168" cy="979283"/>
          </a:xfrm>
          <a:custGeom>
            <a:avLst/>
            <a:gdLst/>
            <a:ahLst/>
            <a:cxnLst/>
            <a:rect l="l" t="t" r="r" b="b"/>
            <a:pathLst>
              <a:path w="1050168" h="979283">
                <a:moveTo>
                  <a:pt x="0" y="0"/>
                </a:moveTo>
                <a:lnTo>
                  <a:pt x="1050168" y="0"/>
                </a:lnTo>
                <a:lnTo>
                  <a:pt x="1050168" y="979282"/>
                </a:lnTo>
                <a:lnTo>
                  <a:pt x="0" y="9792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9" b="-3619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24529" y="4876147"/>
            <a:ext cx="960430" cy="991829"/>
          </a:xfrm>
          <a:custGeom>
            <a:avLst/>
            <a:gdLst/>
            <a:ahLst/>
            <a:cxnLst/>
            <a:rect l="l" t="t" r="r" b="b"/>
            <a:pathLst>
              <a:path w="960430" h="991829">
                <a:moveTo>
                  <a:pt x="0" y="0"/>
                </a:moveTo>
                <a:lnTo>
                  <a:pt x="960430" y="0"/>
                </a:lnTo>
                <a:lnTo>
                  <a:pt x="960430" y="991829"/>
                </a:lnTo>
                <a:lnTo>
                  <a:pt x="0" y="9918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246" t="-5516" r="-12135" b="-9116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42751" y="7712072"/>
            <a:ext cx="1158758" cy="821718"/>
          </a:xfrm>
          <a:custGeom>
            <a:avLst/>
            <a:gdLst/>
            <a:ahLst/>
            <a:cxnLst/>
            <a:rect l="l" t="t" r="r" b="b"/>
            <a:pathLst>
              <a:path w="1158758" h="821718">
                <a:moveTo>
                  <a:pt x="0" y="0"/>
                </a:moveTo>
                <a:lnTo>
                  <a:pt x="1158758" y="0"/>
                </a:lnTo>
                <a:lnTo>
                  <a:pt x="1158758" y="821718"/>
                </a:lnTo>
                <a:lnTo>
                  <a:pt x="0" y="8217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725" r="-12380" b="-725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461458" y="5146597"/>
            <a:ext cx="11302040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Offer cashback and exclusive discounts for digital payment users and launch "Cashless Day" campaigns with special promotions.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28222" y="40006"/>
            <a:ext cx="11927452" cy="116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Strategy Recomendations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230964" y="121603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10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61458" y="7135492"/>
            <a:ext cx="7258973" cy="5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Improve Delivery Service Reliability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64434" y="1614222"/>
            <a:ext cx="7770165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Personalized Food Recommendations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64435" y="2152702"/>
            <a:ext cx="11275416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Leverage customers' purchase history and ordering patterns to provide personalized restaurant and menu recommendations based on different meal times (breakfast, lunch, and dinner).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61458" y="4489804"/>
            <a:ext cx="7507498" cy="5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Accelerate Digital Payment Adoption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61458" y="7669847"/>
            <a:ext cx="11302040" cy="173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Enhance delivery time estimation accuracy and implement an automatic compensation system for delayed orders to improve customer satisfaction and build long-term trust in the platform.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29LT Bukra Semi Wide"/>
              <a:ea typeface="29LT Bukra Semi Wide"/>
              <a:cs typeface="29LT Bukra Semi Wide"/>
              <a:sym typeface="29LT Bukra Semi Wi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862523" y="-63441"/>
            <a:ext cx="1396777" cy="1719110"/>
            <a:chOff x="0" y="0"/>
            <a:chExt cx="6604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20A7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8737" y="1605807"/>
            <a:ext cx="13063862" cy="2181726"/>
            <a:chOff x="0" y="0"/>
            <a:chExt cx="3440688" cy="5746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40688" cy="574611"/>
            </a:xfrm>
            <a:custGeom>
              <a:avLst/>
              <a:gdLst/>
              <a:ahLst/>
              <a:cxnLst/>
              <a:rect l="l" t="t" r="r" b="b"/>
              <a:pathLst>
                <a:path w="3440688" h="574611">
                  <a:moveTo>
                    <a:pt x="30224" y="0"/>
                  </a:moveTo>
                  <a:lnTo>
                    <a:pt x="3410464" y="0"/>
                  </a:lnTo>
                  <a:cubicBezTo>
                    <a:pt x="3427156" y="0"/>
                    <a:pt x="3440688" y="13532"/>
                    <a:pt x="3440688" y="30224"/>
                  </a:cubicBezTo>
                  <a:lnTo>
                    <a:pt x="3440688" y="544387"/>
                  </a:lnTo>
                  <a:cubicBezTo>
                    <a:pt x="3440688" y="561079"/>
                    <a:pt x="3427156" y="574611"/>
                    <a:pt x="3410464" y="574611"/>
                  </a:cubicBezTo>
                  <a:lnTo>
                    <a:pt x="30224" y="574611"/>
                  </a:lnTo>
                  <a:cubicBezTo>
                    <a:pt x="13532" y="574611"/>
                    <a:pt x="0" y="561079"/>
                    <a:pt x="0" y="544387"/>
                  </a:cubicBezTo>
                  <a:lnTo>
                    <a:pt x="0" y="30224"/>
                  </a:lnTo>
                  <a:cubicBezTo>
                    <a:pt x="0" y="13532"/>
                    <a:pt x="13532" y="0"/>
                    <a:pt x="30224" y="0"/>
                  </a:cubicBezTo>
                  <a:close/>
                </a:path>
              </a:pathLst>
            </a:custGeom>
            <a:solidFill>
              <a:srgbClr val="FF4E8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440688" cy="6127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8737" y="4339983"/>
            <a:ext cx="13121663" cy="2185909"/>
            <a:chOff x="0" y="0"/>
            <a:chExt cx="3455911" cy="5757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55911" cy="575713"/>
            </a:xfrm>
            <a:custGeom>
              <a:avLst/>
              <a:gdLst/>
              <a:ahLst/>
              <a:cxnLst/>
              <a:rect l="l" t="t" r="r" b="b"/>
              <a:pathLst>
                <a:path w="3455911" h="575713">
                  <a:moveTo>
                    <a:pt x="30091" y="0"/>
                  </a:moveTo>
                  <a:lnTo>
                    <a:pt x="3425821" y="0"/>
                  </a:lnTo>
                  <a:cubicBezTo>
                    <a:pt x="3433801" y="0"/>
                    <a:pt x="3441455" y="3170"/>
                    <a:pt x="3447098" y="8813"/>
                  </a:cubicBezTo>
                  <a:cubicBezTo>
                    <a:pt x="3452741" y="14456"/>
                    <a:pt x="3455911" y="22110"/>
                    <a:pt x="3455911" y="30091"/>
                  </a:cubicBezTo>
                  <a:lnTo>
                    <a:pt x="3455911" y="545622"/>
                  </a:lnTo>
                  <a:cubicBezTo>
                    <a:pt x="3455911" y="553603"/>
                    <a:pt x="3452741" y="561256"/>
                    <a:pt x="3447098" y="566899"/>
                  </a:cubicBezTo>
                  <a:cubicBezTo>
                    <a:pt x="3441455" y="572542"/>
                    <a:pt x="3433801" y="575713"/>
                    <a:pt x="3425821" y="575713"/>
                  </a:cubicBezTo>
                  <a:lnTo>
                    <a:pt x="30091" y="575713"/>
                  </a:lnTo>
                  <a:cubicBezTo>
                    <a:pt x="22110" y="575713"/>
                    <a:pt x="14456" y="572542"/>
                    <a:pt x="8813" y="566899"/>
                  </a:cubicBezTo>
                  <a:cubicBezTo>
                    <a:pt x="3170" y="561256"/>
                    <a:pt x="0" y="553603"/>
                    <a:pt x="0" y="545622"/>
                  </a:cubicBezTo>
                  <a:lnTo>
                    <a:pt x="0" y="30091"/>
                  </a:lnTo>
                  <a:cubicBezTo>
                    <a:pt x="0" y="22110"/>
                    <a:pt x="3170" y="14456"/>
                    <a:pt x="8813" y="8813"/>
                  </a:cubicBezTo>
                  <a:cubicBezTo>
                    <a:pt x="14456" y="3170"/>
                    <a:pt x="22110" y="0"/>
                    <a:pt x="30091" y="0"/>
                  </a:cubicBezTo>
                  <a:close/>
                </a:path>
              </a:pathLst>
            </a:custGeom>
            <a:solidFill>
              <a:srgbClr val="FF4E8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55911" cy="613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13" name="Freeform 13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58737" y="7078342"/>
            <a:ext cx="13063862" cy="2179958"/>
            <a:chOff x="0" y="0"/>
            <a:chExt cx="3440688" cy="5741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40688" cy="574145"/>
            </a:xfrm>
            <a:custGeom>
              <a:avLst/>
              <a:gdLst/>
              <a:ahLst/>
              <a:cxnLst/>
              <a:rect l="l" t="t" r="r" b="b"/>
              <a:pathLst>
                <a:path w="3440688" h="574145">
                  <a:moveTo>
                    <a:pt x="30224" y="0"/>
                  </a:moveTo>
                  <a:lnTo>
                    <a:pt x="3410464" y="0"/>
                  </a:lnTo>
                  <a:cubicBezTo>
                    <a:pt x="3427156" y="0"/>
                    <a:pt x="3440688" y="13532"/>
                    <a:pt x="3440688" y="30224"/>
                  </a:cubicBezTo>
                  <a:lnTo>
                    <a:pt x="3440688" y="543922"/>
                  </a:lnTo>
                  <a:cubicBezTo>
                    <a:pt x="3440688" y="560614"/>
                    <a:pt x="3427156" y="574145"/>
                    <a:pt x="3410464" y="574145"/>
                  </a:cubicBezTo>
                  <a:lnTo>
                    <a:pt x="30224" y="574145"/>
                  </a:lnTo>
                  <a:cubicBezTo>
                    <a:pt x="13532" y="574145"/>
                    <a:pt x="0" y="560614"/>
                    <a:pt x="0" y="543922"/>
                  </a:cubicBezTo>
                  <a:lnTo>
                    <a:pt x="0" y="30224"/>
                  </a:lnTo>
                  <a:cubicBezTo>
                    <a:pt x="0" y="13532"/>
                    <a:pt x="13532" y="0"/>
                    <a:pt x="30224" y="0"/>
                  </a:cubicBezTo>
                  <a:close/>
                </a:path>
              </a:pathLst>
            </a:custGeom>
            <a:solidFill>
              <a:srgbClr val="FF4E8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440688" cy="612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700" y="2226208"/>
            <a:ext cx="1295414" cy="1214945"/>
          </a:xfrm>
          <a:custGeom>
            <a:avLst/>
            <a:gdLst/>
            <a:ahLst/>
            <a:cxnLst/>
            <a:rect l="l" t="t" r="r" b="b"/>
            <a:pathLst>
              <a:path w="1295414" h="1214945">
                <a:moveTo>
                  <a:pt x="0" y="0"/>
                </a:moveTo>
                <a:lnTo>
                  <a:pt x="1295414" y="0"/>
                </a:lnTo>
                <a:lnTo>
                  <a:pt x="1295414" y="1214945"/>
                </a:lnTo>
                <a:lnTo>
                  <a:pt x="0" y="1214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28" r="-2469" b="-462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05676" y="4876147"/>
            <a:ext cx="1076734" cy="1171515"/>
          </a:xfrm>
          <a:custGeom>
            <a:avLst/>
            <a:gdLst/>
            <a:ahLst/>
            <a:cxnLst/>
            <a:rect l="l" t="t" r="r" b="b"/>
            <a:pathLst>
              <a:path w="1076734" h="1171515">
                <a:moveTo>
                  <a:pt x="0" y="0"/>
                </a:moveTo>
                <a:lnTo>
                  <a:pt x="1076734" y="0"/>
                </a:lnTo>
                <a:lnTo>
                  <a:pt x="1076734" y="1171515"/>
                </a:lnTo>
                <a:lnTo>
                  <a:pt x="0" y="1171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69" t="-13536" r="-19260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05676" y="7611742"/>
            <a:ext cx="1029950" cy="1171515"/>
          </a:xfrm>
          <a:custGeom>
            <a:avLst/>
            <a:gdLst/>
            <a:ahLst/>
            <a:cxnLst/>
            <a:rect l="l" t="t" r="r" b="b"/>
            <a:pathLst>
              <a:path w="1029950" h="1171515">
                <a:moveTo>
                  <a:pt x="0" y="0"/>
                </a:moveTo>
                <a:lnTo>
                  <a:pt x="1029950" y="0"/>
                </a:lnTo>
                <a:lnTo>
                  <a:pt x="1029950" y="1171515"/>
                </a:lnTo>
                <a:lnTo>
                  <a:pt x="0" y="11715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687" t="-2672" r="-409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604999" y="5146597"/>
            <a:ext cx="11014958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Increase the diversity of restaurants and menu options by partnering with more local merchants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28222" y="40006"/>
            <a:ext cx="11927452" cy="116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1">
                <a:solidFill>
                  <a:srgbClr val="000000"/>
                </a:solidFill>
                <a:latin typeface="29LT Bukra Semi Wide Bold"/>
                <a:ea typeface="29LT Bukra Semi Wide Bold"/>
                <a:cs typeface="29LT Bukra Semi Wide Bold"/>
                <a:sym typeface="29LT Bukra Semi Wide Bold"/>
              </a:rPr>
              <a:t>Strategy Recomendations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373839" y="114646"/>
            <a:ext cx="102833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11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61458" y="7135492"/>
            <a:ext cx="7941531" cy="5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Optimize Pricing &amp; Promotion Strategy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37032" y="1662188"/>
            <a:ext cx="11439384" cy="5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Optimize User Interface (UI) and User Experience (UX)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61458" y="4511657"/>
            <a:ext cx="4490731" cy="5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Expand Menu Variety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61458" y="7669847"/>
            <a:ext cx="11302040" cy="299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Implement localized promotions and combo meal offers with personalized add-on recommendations to increase sales and average order value.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29LT Bukra Semi Wide"/>
              <a:ea typeface="29LT Bukra Semi Wide"/>
              <a:cs typeface="29LT Bukra Semi Wide"/>
              <a:sym typeface="29LT Bukra Semi Wide"/>
            </a:endParaR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29LT Bukra Semi Wide"/>
              <a:ea typeface="29LT Bukra Semi Wide"/>
              <a:cs typeface="29LT Bukra Semi Wide"/>
              <a:sym typeface="29LT Bukra Semi Wide"/>
            </a:endParaR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29LT Bukra Semi Wide"/>
              <a:ea typeface="29LT Bukra Semi Wide"/>
              <a:cs typeface="29LT Bukra Semi Wide"/>
              <a:sym typeface="29LT Bukra Semi Wide"/>
            </a:endParaR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29LT Bukra Semi Wide"/>
              <a:ea typeface="29LT Bukra Semi Wide"/>
              <a:cs typeface="29LT Bukra Semi Wide"/>
              <a:sym typeface="29LT Bukra Semi Wid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04999" y="2215107"/>
            <a:ext cx="11110652" cy="173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29LT Bukra Semi Wide"/>
                <a:ea typeface="29LT Bukra Semi Wide"/>
                <a:cs typeface="29LT Bukra Semi Wide"/>
                <a:sym typeface="29LT Bukra Semi Wide"/>
              </a:rPr>
              <a:t>Simplify the ordering process by improving the application's interface, allowing customers to quickly reorder their favorite meals with a single click.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29LT Bukra Semi Wide"/>
              <a:ea typeface="29LT Bukra Semi Wide"/>
              <a:cs typeface="29LT Bukra Semi Wide"/>
              <a:sym typeface="29LT Bukra Semi Wide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652161" y="3267475"/>
            <a:ext cx="3443356" cy="2391567"/>
          </a:xfrm>
          <a:custGeom>
            <a:avLst/>
            <a:gdLst/>
            <a:ahLst/>
            <a:cxnLst/>
            <a:rect l="l" t="t" r="r" b="b"/>
            <a:pathLst>
              <a:path w="3443356" h="2391567">
                <a:moveTo>
                  <a:pt x="0" y="0"/>
                </a:moveTo>
                <a:lnTo>
                  <a:pt x="3443356" y="0"/>
                </a:lnTo>
                <a:lnTo>
                  <a:pt x="3443356" y="2391567"/>
                </a:lnTo>
                <a:lnTo>
                  <a:pt x="0" y="2391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4571714" y="6047662"/>
            <a:ext cx="3807117" cy="440051"/>
            <a:chOff x="0" y="0"/>
            <a:chExt cx="1002697" cy="11589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02697" cy="115898"/>
            </a:xfrm>
            <a:custGeom>
              <a:avLst/>
              <a:gdLst/>
              <a:ahLst/>
              <a:cxnLst/>
              <a:rect l="l" t="t" r="r" b="b"/>
              <a:pathLst>
                <a:path w="1002697" h="115898">
                  <a:moveTo>
                    <a:pt x="0" y="0"/>
                  </a:moveTo>
                  <a:lnTo>
                    <a:pt x="1002697" y="0"/>
                  </a:lnTo>
                  <a:lnTo>
                    <a:pt x="1002697" y="115898"/>
                  </a:lnTo>
                  <a:lnTo>
                    <a:pt x="0" y="115898"/>
                  </a:lnTo>
                  <a:close/>
                </a:path>
              </a:pathLst>
            </a:custGeom>
            <a:solidFill>
              <a:srgbClr val="A27349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02697" cy="153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4571714" y="2580579"/>
            <a:ext cx="1183960" cy="1373793"/>
          </a:xfrm>
          <a:custGeom>
            <a:avLst/>
            <a:gdLst/>
            <a:ahLst/>
            <a:cxnLst/>
            <a:rect l="l" t="t" r="r" b="b"/>
            <a:pathLst>
              <a:path w="1183960" h="1373793">
                <a:moveTo>
                  <a:pt x="0" y="0"/>
                </a:moveTo>
                <a:lnTo>
                  <a:pt x="1183960" y="0"/>
                </a:lnTo>
                <a:lnTo>
                  <a:pt x="1183960" y="1373793"/>
                </a:lnTo>
                <a:lnTo>
                  <a:pt x="0" y="1373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5467" y="2473588"/>
            <a:ext cx="6554667" cy="4901434"/>
            <a:chOff x="0" y="0"/>
            <a:chExt cx="1726332" cy="12909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6332" cy="1290913"/>
            </a:xfrm>
            <a:custGeom>
              <a:avLst/>
              <a:gdLst/>
              <a:ahLst/>
              <a:cxnLst/>
              <a:rect l="l" t="t" r="r" b="b"/>
              <a:pathLst>
                <a:path w="1726332" h="1290913">
                  <a:moveTo>
                    <a:pt x="60238" y="0"/>
                  </a:moveTo>
                  <a:lnTo>
                    <a:pt x="1666094" y="0"/>
                  </a:lnTo>
                  <a:cubicBezTo>
                    <a:pt x="1682070" y="0"/>
                    <a:pt x="1697392" y="6346"/>
                    <a:pt x="1708689" y="17643"/>
                  </a:cubicBezTo>
                  <a:cubicBezTo>
                    <a:pt x="1719985" y="28940"/>
                    <a:pt x="1726332" y="44262"/>
                    <a:pt x="1726332" y="60238"/>
                  </a:cubicBezTo>
                  <a:lnTo>
                    <a:pt x="1726332" y="1230675"/>
                  </a:lnTo>
                  <a:cubicBezTo>
                    <a:pt x="1726332" y="1246651"/>
                    <a:pt x="1719985" y="1261973"/>
                    <a:pt x="1708689" y="1273269"/>
                  </a:cubicBezTo>
                  <a:cubicBezTo>
                    <a:pt x="1697392" y="1284566"/>
                    <a:pt x="1682070" y="1290913"/>
                    <a:pt x="1666094" y="1290913"/>
                  </a:cubicBezTo>
                  <a:lnTo>
                    <a:pt x="60238" y="1290913"/>
                  </a:lnTo>
                  <a:cubicBezTo>
                    <a:pt x="44262" y="1290913"/>
                    <a:pt x="28940" y="1284566"/>
                    <a:pt x="17643" y="1273269"/>
                  </a:cubicBezTo>
                  <a:cubicBezTo>
                    <a:pt x="6346" y="1261973"/>
                    <a:pt x="0" y="1246651"/>
                    <a:pt x="0" y="1230675"/>
                  </a:cubicBezTo>
                  <a:lnTo>
                    <a:pt x="0" y="60238"/>
                  </a:lnTo>
                  <a:cubicBezTo>
                    <a:pt x="0" y="44262"/>
                    <a:pt x="6346" y="28940"/>
                    <a:pt x="17643" y="17643"/>
                  </a:cubicBezTo>
                  <a:cubicBezTo>
                    <a:pt x="28940" y="6346"/>
                    <a:pt x="44262" y="0"/>
                    <a:pt x="60238" y="0"/>
                  </a:cubicBezTo>
                  <a:close/>
                </a:path>
              </a:pathLst>
            </a:custGeom>
            <a:solidFill>
              <a:srgbClr val="F20A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26332" cy="1329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94199" y="2637971"/>
            <a:ext cx="6554667" cy="4901434"/>
            <a:chOff x="0" y="0"/>
            <a:chExt cx="1726332" cy="12909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6332" cy="1290913"/>
            </a:xfrm>
            <a:custGeom>
              <a:avLst/>
              <a:gdLst/>
              <a:ahLst/>
              <a:cxnLst/>
              <a:rect l="l" t="t" r="r" b="b"/>
              <a:pathLst>
                <a:path w="1726332" h="1290913">
                  <a:moveTo>
                    <a:pt x="60238" y="0"/>
                  </a:moveTo>
                  <a:lnTo>
                    <a:pt x="1666094" y="0"/>
                  </a:lnTo>
                  <a:cubicBezTo>
                    <a:pt x="1682070" y="0"/>
                    <a:pt x="1697392" y="6346"/>
                    <a:pt x="1708689" y="17643"/>
                  </a:cubicBezTo>
                  <a:cubicBezTo>
                    <a:pt x="1719985" y="28940"/>
                    <a:pt x="1726332" y="44262"/>
                    <a:pt x="1726332" y="60238"/>
                  </a:cubicBezTo>
                  <a:lnTo>
                    <a:pt x="1726332" y="1230675"/>
                  </a:lnTo>
                  <a:cubicBezTo>
                    <a:pt x="1726332" y="1246651"/>
                    <a:pt x="1719985" y="1261973"/>
                    <a:pt x="1708689" y="1273269"/>
                  </a:cubicBezTo>
                  <a:cubicBezTo>
                    <a:pt x="1697392" y="1284566"/>
                    <a:pt x="1682070" y="1290913"/>
                    <a:pt x="1666094" y="1290913"/>
                  </a:cubicBezTo>
                  <a:lnTo>
                    <a:pt x="60238" y="1290913"/>
                  </a:lnTo>
                  <a:cubicBezTo>
                    <a:pt x="44262" y="1290913"/>
                    <a:pt x="28940" y="1284566"/>
                    <a:pt x="17643" y="1273269"/>
                  </a:cubicBezTo>
                  <a:cubicBezTo>
                    <a:pt x="6346" y="1261973"/>
                    <a:pt x="0" y="1246651"/>
                    <a:pt x="0" y="1230675"/>
                  </a:cubicBezTo>
                  <a:lnTo>
                    <a:pt x="0" y="60238"/>
                  </a:lnTo>
                  <a:cubicBezTo>
                    <a:pt x="0" y="44262"/>
                    <a:pt x="6346" y="28940"/>
                    <a:pt x="17643" y="17643"/>
                  </a:cubicBezTo>
                  <a:cubicBezTo>
                    <a:pt x="28940" y="6346"/>
                    <a:pt x="44262" y="0"/>
                    <a:pt x="6023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901B45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6332" cy="1329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9480" y="3332156"/>
            <a:ext cx="7408277" cy="3513065"/>
            <a:chOff x="0" y="0"/>
            <a:chExt cx="9877702" cy="4684086"/>
          </a:xfrm>
        </p:grpSpPr>
        <p:sp>
          <p:nvSpPr>
            <p:cNvPr id="9" name="TextBox 9"/>
            <p:cNvSpPr txBox="1"/>
            <p:nvPr/>
          </p:nvSpPr>
          <p:spPr>
            <a:xfrm>
              <a:off x="305724" y="-371475"/>
              <a:ext cx="9571978" cy="1826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81"/>
                </a:lnSpc>
              </a:pPr>
              <a:r>
                <a:rPr lang="en-US" sz="7201" b="1">
                  <a:solidFill>
                    <a:srgbClr val="000000"/>
                  </a:solidFill>
                  <a:latin typeface="29LT Bukra Semi Wide Bold"/>
                  <a:ea typeface="29LT Bukra Semi Wide Bold"/>
                  <a:cs typeface="29LT Bukra Semi Wide Bold"/>
                  <a:sym typeface="29LT Bukra Semi Wide Bold"/>
                </a:rPr>
                <a:t>Thank You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97427"/>
              <a:ext cx="8766977" cy="571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571">
                  <a:solidFill>
                    <a:srgbClr val="000000"/>
                  </a:solidFill>
                  <a:latin typeface="Fahkwang"/>
                  <a:ea typeface="Fahkwang"/>
                  <a:cs typeface="Fahkwang"/>
                  <a:sym typeface="Fahkwang"/>
                </a:rPr>
                <a:t>We would love to hear your opinions.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3768043"/>
              <a:ext cx="916044" cy="916044"/>
            </a:xfrm>
            <a:custGeom>
              <a:avLst/>
              <a:gdLst/>
              <a:ahLst/>
              <a:cxnLst/>
              <a:rect l="l" t="t" r="r" b="b"/>
              <a:pathLst>
                <a:path w="916044" h="916044">
                  <a:moveTo>
                    <a:pt x="0" y="0"/>
                  </a:moveTo>
                  <a:lnTo>
                    <a:pt x="916044" y="0"/>
                  </a:lnTo>
                  <a:lnTo>
                    <a:pt x="916044" y="916043"/>
                  </a:lnTo>
                  <a:lnTo>
                    <a:pt x="0" y="91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326136" y="3812548"/>
              <a:ext cx="6818084" cy="571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571">
                  <a:solidFill>
                    <a:srgbClr val="000000"/>
                  </a:solidFill>
                  <a:latin typeface="Fahkwang"/>
                  <a:ea typeface="Fahkwang"/>
                  <a:cs typeface="Fahkwang"/>
                  <a:sym typeface="Fahkwang"/>
                </a:rPr>
                <a:t>estersiahaan1806@gmail.com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6136" y="2749922"/>
              <a:ext cx="4997126" cy="571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571">
                  <a:solidFill>
                    <a:srgbClr val="000000"/>
                  </a:solidFill>
                  <a:latin typeface="Fahkwang"/>
                  <a:ea typeface="Fahkwang"/>
                  <a:cs typeface="Fahkwang"/>
                  <a:sym typeface="Fahkwang"/>
                </a:rPr>
                <a:t>Ester Siahaan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4356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0" y="0"/>
                </a:moveTo>
                <a:lnTo>
                  <a:pt x="2545618" y="0"/>
                </a:lnTo>
                <a:lnTo>
                  <a:pt x="2545618" y="593033"/>
                </a:lnTo>
                <a:lnTo>
                  <a:pt x="0" y="59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-200025" y="9810179"/>
            <a:ext cx="18940287" cy="644564"/>
            <a:chOff x="0" y="0"/>
            <a:chExt cx="25253715" cy="859418"/>
          </a:xfrm>
        </p:grpSpPr>
        <p:sp>
          <p:nvSpPr>
            <p:cNvPr id="16" name="Freeform 16"/>
            <p:cNvSpPr/>
            <p:nvPr/>
          </p:nvSpPr>
          <p:spPr>
            <a:xfrm rot="-5400000">
              <a:off x="5948567" y="-594856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8" y="0"/>
                  </a:lnTo>
                  <a:lnTo>
                    <a:pt x="858078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-5400000">
              <a:off x="18447071" y="-5947227"/>
              <a:ext cx="858078" cy="12755212"/>
            </a:xfrm>
            <a:custGeom>
              <a:avLst/>
              <a:gdLst/>
              <a:ahLst/>
              <a:cxnLst/>
              <a:rect l="l" t="t" r="r" b="b"/>
              <a:pathLst>
                <a:path w="858078" h="12755212">
                  <a:moveTo>
                    <a:pt x="0" y="0"/>
                  </a:moveTo>
                  <a:lnTo>
                    <a:pt x="858077" y="0"/>
                  </a:lnTo>
                  <a:lnTo>
                    <a:pt x="858077" y="12755212"/>
                  </a:lnTo>
                  <a:lnTo>
                    <a:pt x="0" y="12755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5725" y="4120297"/>
            <a:ext cx="4674783" cy="4918928"/>
            <a:chOff x="0" y="0"/>
            <a:chExt cx="6233044" cy="6558571"/>
          </a:xfrm>
        </p:grpSpPr>
        <p:sp>
          <p:nvSpPr>
            <p:cNvPr id="19" name="Freeform 19"/>
            <p:cNvSpPr/>
            <p:nvPr/>
          </p:nvSpPr>
          <p:spPr>
            <a:xfrm flipH="1">
              <a:off x="2442255" y="2988337"/>
              <a:ext cx="3790789" cy="3570234"/>
            </a:xfrm>
            <a:custGeom>
              <a:avLst/>
              <a:gdLst/>
              <a:ahLst/>
              <a:cxnLst/>
              <a:rect l="l" t="t" r="r" b="b"/>
              <a:pathLst>
                <a:path w="3790789" h="3570234">
                  <a:moveTo>
                    <a:pt x="3790789" y="0"/>
                  </a:moveTo>
                  <a:lnTo>
                    <a:pt x="0" y="0"/>
                  </a:lnTo>
                  <a:lnTo>
                    <a:pt x="0" y="3570234"/>
                  </a:lnTo>
                  <a:lnTo>
                    <a:pt x="3790789" y="3570234"/>
                  </a:lnTo>
                  <a:lnTo>
                    <a:pt x="3790789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-1559721" flipH="1">
              <a:off x="399993" y="452827"/>
              <a:ext cx="2627601" cy="2431725"/>
            </a:xfrm>
            <a:custGeom>
              <a:avLst/>
              <a:gdLst/>
              <a:ahLst/>
              <a:cxnLst/>
              <a:rect l="l" t="t" r="r" b="b"/>
              <a:pathLst>
                <a:path w="2627601" h="2431725">
                  <a:moveTo>
                    <a:pt x="2627600" y="0"/>
                  </a:moveTo>
                  <a:lnTo>
                    <a:pt x="0" y="0"/>
                  </a:lnTo>
                  <a:lnTo>
                    <a:pt x="0" y="2431725"/>
                  </a:lnTo>
                  <a:lnTo>
                    <a:pt x="2627600" y="2431725"/>
                  </a:lnTo>
                  <a:lnTo>
                    <a:pt x="262760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13569144" y="2399366"/>
            <a:ext cx="3690156" cy="2744134"/>
          </a:xfrm>
          <a:custGeom>
            <a:avLst/>
            <a:gdLst/>
            <a:ahLst/>
            <a:cxnLst/>
            <a:rect l="l" t="t" r="r" b="b"/>
            <a:pathLst>
              <a:path w="3690156" h="2744134">
                <a:moveTo>
                  <a:pt x="0" y="0"/>
                </a:moveTo>
                <a:lnTo>
                  <a:pt x="3690156" y="0"/>
                </a:lnTo>
                <a:lnTo>
                  <a:pt x="3690156" y="2744134"/>
                </a:lnTo>
                <a:lnTo>
                  <a:pt x="0" y="2744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3569144" y="1184088"/>
            <a:ext cx="1441688" cy="1645821"/>
          </a:xfrm>
          <a:custGeom>
            <a:avLst/>
            <a:gdLst/>
            <a:ahLst/>
            <a:cxnLst/>
            <a:rect l="l" t="t" r="r" b="b"/>
            <a:pathLst>
              <a:path w="1441688" h="1645821">
                <a:moveTo>
                  <a:pt x="1441689" y="0"/>
                </a:moveTo>
                <a:lnTo>
                  <a:pt x="0" y="0"/>
                </a:lnTo>
                <a:lnTo>
                  <a:pt x="0" y="1645821"/>
                </a:lnTo>
                <a:lnTo>
                  <a:pt x="1441689" y="1645821"/>
                </a:lnTo>
                <a:lnTo>
                  <a:pt x="1441689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14713682" y="8665267"/>
            <a:ext cx="2545618" cy="593033"/>
          </a:xfrm>
          <a:custGeom>
            <a:avLst/>
            <a:gdLst/>
            <a:ahLst/>
            <a:cxnLst/>
            <a:rect l="l" t="t" r="r" b="b"/>
            <a:pathLst>
              <a:path w="2545618" h="593033">
                <a:moveTo>
                  <a:pt x="2545618" y="0"/>
                </a:moveTo>
                <a:lnTo>
                  <a:pt x="0" y="0"/>
                </a:lnTo>
                <a:lnTo>
                  <a:pt x="0" y="593033"/>
                </a:lnTo>
                <a:lnTo>
                  <a:pt x="2545618" y="593033"/>
                </a:lnTo>
                <a:lnTo>
                  <a:pt x="25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669480" y="5313358"/>
            <a:ext cx="597406" cy="597406"/>
          </a:xfrm>
          <a:custGeom>
            <a:avLst/>
            <a:gdLst/>
            <a:ahLst/>
            <a:cxnLst/>
            <a:rect l="l" t="t" r="r" b="b"/>
            <a:pathLst>
              <a:path w="597406" h="597406">
                <a:moveTo>
                  <a:pt x="0" y="0"/>
                </a:moveTo>
                <a:lnTo>
                  <a:pt x="597406" y="0"/>
                </a:lnTo>
                <a:lnTo>
                  <a:pt x="597406" y="597406"/>
                </a:lnTo>
                <a:lnTo>
                  <a:pt x="0" y="5974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584</Words>
  <Application>Microsoft Office PowerPoint</Application>
  <PresentationFormat>Custom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29LT Bukra Semi Wide</vt:lpstr>
      <vt:lpstr>Open Sans Bold</vt:lpstr>
      <vt:lpstr>29LT Bukra Semi Wide Bold</vt:lpstr>
      <vt:lpstr>Fahkwang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foodpanda</dc:title>
  <dc:creator>Ester Siahaan</dc:creator>
  <cp:lastModifiedBy>Ester Siahaan</cp:lastModifiedBy>
  <cp:revision>2</cp:revision>
  <dcterms:created xsi:type="dcterms:W3CDTF">2006-08-16T00:00:00Z</dcterms:created>
  <dcterms:modified xsi:type="dcterms:W3CDTF">2026-06-14T15:09:41Z</dcterms:modified>
  <dc:identifier>DAHLzVNtK0U</dc:identifier>
</cp:coreProperties>
</file>